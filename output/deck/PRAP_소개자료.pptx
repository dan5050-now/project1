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PRAP은 동시에 진행되는 임상 과제의 월 단위 인력 수요를 시뮬레이션하는 도구입니다. 설치 없이 로컬 PC에서 동작하며, 네트워크를 전혀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데이터는 앱이 아니라 엑셀 워크북에 남습니다. 워크북이 기록의 원본이고, 앱은 그것을 읽어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문제 정의는 제가 지어낸 것이 아니라 승인된 개발계획서 02_Scope 시트에 기록된 내용입니다.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특장점의 핵심은 '설치가 필요없고 데이터가 PC를 떠나지 않는다'는 점입니다. 사내 보안 통제와 정면으로 충돌하지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계산 규칙(REQ-CAL-19)이 이 앱의 지적 핵심입니다. 네 계수를 곱해서 FTE라고 부르는 것은 흔한 오류이고, 명세서는 그것을 하지 말라고 명시합니다.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 워크북은 '되돌려 가져오기'가 불가능한 파생 산출물이며, 첫 시트가 그 사실을 명시합니다.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34건이 넘는 변경요청이 이 게이트 구조 위에서 처리되었고, 모든 변경은 문서 버전 이력에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대회의 관점에서 가장 중요한 슬라이드입니다. AI가 코드를 빨리 쓴다는 것보다, 틀린 코드가 통과하지 못하게 만드는 구조를 세웠다는 점이 요지입니다.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기대효과는 '기대'입니다. 수작업 대비 절감 시간은 아직 측정하지 않았으므로 수치로 주장하지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캡처는 모두 현재 빌드에서 자동 생성한 것입니다. 데모 데이터는 62개 과제·20명입니다.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737360"/>
            <a:ext cx="5852160" cy="5852160"/>
          </a:xfrm>
          <a:prstGeom prst="ellipse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108960"/>
            <a:ext cx="3291840" cy="329184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AI 활용 · 개발 사례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PRAP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880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진행 임상 과제의 월 단위 인력 수요 시뮬레이터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다음 분기에 과다 배정인지, 누가 3개월 연속 과소 활용인지를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화면에서 답하는 오프라인 단일 파일 애플리케이션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7091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285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95728" y="47091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2395728" y="5285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규칙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224528" y="47091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224528" y="5285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스위트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053328" y="47091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5285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커밋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8704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기간 2026-06-01 ~ 2026-09-15   ·   웹(단일 HTML) + 데스크톱(Python) 2개 제품군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하는 도구이고, 왜 만들었는가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00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35024" y="1737360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67712"/>
            <a:ext cx="29809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과제별·인력별 월 단위 투입량(FTE)을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시뮬레이션하는 단일 HTML 애플리케이션.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데이터는 엑셀 워크북 한 개에 보관하고,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앱은 그 파일을 읽어 계산·시각화한다.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17136" y="170078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7136" y="1700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47488" y="1737360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만들었나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267712"/>
            <a:ext cx="29809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과제는 동시에 진행되고 일정은 자주 바뀐다.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받는 부담은 과제·기간·역할에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달라져 손으로 계산하기 어렵다.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답하는 단일 화면이 없었다.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1856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70078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0" y="1700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59952" y="1737360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267712"/>
            <a:ext cx="29809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과다 배정과 과소 활용을 사전에 식별하고,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 변경 후 즉시 재시뮬레이션한다.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근거 항목까지 되짚을 수 있어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가능한 계획이 된다.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0782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탭 — 62개 과제 · 20명 · 24개월을 한 화면에</a:t>
            </a:r>
            <a:endParaRPr lang="en-US" sz="1150" dirty="0"/>
          </a:p>
        </p:txBody>
      </p:sp>
      <p:pic>
        <p:nvPicPr>
          <p:cNvPr id="20" name="Image 0" descr="/home/user/project1/output/deck/01_demand_by_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89120"/>
            <a:ext cx="11055096" cy="181051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배경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개발 이전 — 손으로는 답할 수 없던 질문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47472" cy="347472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5179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진행 + 잦은 일정 변경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828800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과제가 함께 돌아가고 일정이 자주 바뀐다.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만든 배정표는 곧 현실과 어긋난다.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347472" cy="347472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96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542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부담이 일정하지 않음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852928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받는 부담은 과제별로, 그 과제의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기간별로, 맡은 역할별로 모두 다르다.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621024"/>
            <a:ext cx="347472" cy="347472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5661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통합된 시야의 부재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877056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표는 있어도 사람 축으로 합산한 그림이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없어, 겹치는 구간을 사전에 볼 수 없었다.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347472" cy="347472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645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902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재현·검증의 어려움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901184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수식이 흩어진 엑셀은 결과를 다시 만들기도,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숫자인지 되짚기도 어렵다.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37960" y="1481328"/>
            <a:ext cx="5074920" cy="4224528"/>
          </a:xfrm>
          <a:prstGeom prst="roundRect">
            <a:avLst>
              <a:gd name="adj" fmla="val 1732"/>
            </a:avLst>
          </a:prstGeom>
          <a:solidFill>
            <a:srgbClr val="0B3C44"/>
          </a:solidFill>
          <a:ln w="12700">
            <a:solidFill>
              <a:srgbClr val="0B3C44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876288" y="18105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없던 두 가지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76288" y="2304288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“다음 분기에 누가 과다 배정이고,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과제 때문인가?”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876288" y="32186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더 조용한 질문 —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352958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“3개월 연속 과소 활용된 사람은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누구인가?”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876288" y="468172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질문 모두 개발계획서 02_Scope에 기록된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정의이며, 앱의 목표(OBJ-3)로 이어진다.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 상세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기능과 특장점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00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0078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단위 시뮬레이션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176272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과제별·인력별 월 FTE를 표와 그래프로. 기본 24개월, 전체 기간으로 한 번에 확장.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79392" y="1481328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17136" y="170078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7136" y="1700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170078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과다·과소 자동 식별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176272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1.50 FTE 초과는 과다, 0.60 미만 3개월 연속은 과소로 표시하고 요약 타일에서 집계.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91856" y="1481328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70078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0" y="1700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05088" y="170078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대비 부족분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176272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과제가 자기 표준만큼 인력을 받고 있는지 대조(V-34). 아무도 배정되지 않은 달도 수요를 표시(V-36).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" y="3602736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60273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직접 편집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078224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가져온 데이터를 화면에서 수정하고 내보내면 그대로 반영. 편집도 가져오기와 같은 규칙으로 검증.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79392" y="338328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17136" y="3602736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17136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992624" y="360273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 오프라인 단일 파일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517136" y="4078224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HTML 파일 하나(630 KB). 설치·서버·네트워크 없음. 외부 라이브러리 0개 — 엑셀 입출력도 자체 구현.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91856" y="338328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29600" y="3602736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05088" y="360273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37개 검증 규칙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078224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가져오기 시 첫 오류에서 멈추지 않고 모든 문제를 보고. 규칙마다 '거부/확인/진행중' 등급을 가짐.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 상세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FTE 계산 및 시뮬레이션 과정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11055096" cy="932688"/>
          </a:xfrm>
          <a:prstGeom prst="roundRect">
            <a:avLst>
              <a:gd name="adj" fmla="val 7843"/>
            </a:avLst>
          </a:prstGeom>
          <a:solidFill>
            <a:srgbClr val="0B3C44"/>
          </a:solidFill>
          <a:ln w="12700">
            <a:solidFill>
              <a:srgbClr val="0B3C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157276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 — 과제의 한 달은 그 자체가 '표준 수요'이고, 배정된 사람들은 그 달을 나눠 갖는다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192024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개의 배정 계수는 '몫'을 정할 뿐 총량을 만들지 않는다. 사람이 몇 명이든 과제의 그 달은 표준과 같다.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615184"/>
            <a:ext cx="3456432" cy="2212848"/>
          </a:xfrm>
          <a:prstGeom prst="roundRect">
            <a:avLst>
              <a:gd name="adj" fmla="val 3306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281635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816352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과제의 달 = 수요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3310128"/>
            <a:ext cx="2980944" cy="566928"/>
          </a:xfrm>
          <a:prstGeom prst="roundRect">
            <a:avLst>
              <a:gd name="adj" fmla="val 9677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346704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FTE × 기간 가중치 × 그 달의 가동 비율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986784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유형·임상 단계·아웃소싱 범위·기간이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월 FTE를 결정한다.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79392" y="2615184"/>
            <a:ext cx="3456432" cy="2212848"/>
          </a:xfrm>
          <a:prstGeom prst="roundRect">
            <a:avLst>
              <a:gd name="adj" fmla="val 3306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17136" y="281635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17136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10912" y="2816352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몫 = 지분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17136" y="3310128"/>
            <a:ext cx="2980944" cy="566928"/>
          </a:xfrm>
          <a:prstGeom prst="roundRect">
            <a:avLst>
              <a:gd name="adj" fmla="val 9677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08576" y="3346704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(역할계수 ÷ 공유인원) × 개인 가중치 × 참여 비율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17136" y="3986784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값은 '총량'이 아니라 그 달을 나눌 때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상대적 지분이다.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91856" y="2615184"/>
            <a:ext cx="3456432" cy="2212848"/>
          </a:xfrm>
          <a:prstGeom prst="roundRect">
            <a:avLst>
              <a:gd name="adj" fmla="val 3306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0" y="281635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723376" y="2816352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배분 = 수요 × 지분 ÷ 지분합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29600" y="3310128"/>
            <a:ext cx="2980944" cy="566928"/>
          </a:xfrm>
          <a:prstGeom prst="roundRect">
            <a:avLst>
              <a:gd name="adj" fmla="val 9677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3346704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반드시 과제의 달과 일치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3986784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1/100 단위 정수로 최대잔여법 배분.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부분의 합은 항상 전체와 같다.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010912"/>
            <a:ext cx="11055096" cy="1078992"/>
          </a:xfrm>
          <a:prstGeom prst="roundRect">
            <a:avLst>
              <a:gd name="adj" fmla="val 6780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41248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이렇게까지 하는가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543153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배정을 바꾸면 같은 과제·같은 달에 있는 다른 사람의 몫이 함께 바뀐다. 반올림은 마지막에 한 번만 하고 최대잔여법으로 나누므로, 과제의 달은 언제나 자기 구성원 합계와 1/100까지 일치한다. 이 성질이 있어야 화면의 숫자를 근거까지 되짚어도 어긋나지 않는다.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 상세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산출물 — 무엇을 볼 수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73936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093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4개 탭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01952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/ 과제별 원천데이터 / 인력별 원천데이터 / 표준 가정.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표·그래프·타임라인·요약 타일.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59689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86384" y="288950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6384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61872" y="27249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 워크북 (.xlsx)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3017520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가져온 그대로의 구조로 되돌려쓰기. 11개 시트 · 92개 컬럼.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편집 내용이 반영되어 다시 가져올 수 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712464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" y="400507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005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8404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워크북 (.xlsx)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133088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계산된 월별 FTE. 과제별·인력별 각 1행,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배정×월 단위로 곱셈의 모든 항을 담은 상세 시트.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482803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86384" y="51206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6384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9560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결과 리포트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61872" y="5248656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37개 규칙의 발견 사항을 등급·분류와 함께.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로드 배너·전체 리포트·변경 이력에 동시에 반영.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327648" y="1481328"/>
            <a:ext cx="5294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월 FTE — 색 농도로 크기, 테두리로 표준 대비 과부족</a:t>
            </a:r>
            <a:endParaRPr lang="en-US" sz="1100" dirty="0"/>
          </a:p>
        </p:txBody>
      </p:sp>
      <p:pic>
        <p:nvPicPr>
          <p:cNvPr id="25" name="Image 0" descr="/home/user/project1/output/deck/02_resource_by_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792224"/>
            <a:ext cx="5294376" cy="316382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6327648" y="5047488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1/100 FTE 단위이며, 상세 시트의 행 합계와 정확히 일치한다.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과정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게이트 방식 — 승인 없이는 다음 단계로 가지 않는다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80744" y="2011680"/>
            <a:ext cx="493776" cy="49377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0744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개발계획서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요구사항·데이터 모델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·리소스 로직 확정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v2.60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86건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692908" y="3035808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834640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48456" y="2011680"/>
            <a:ext cx="493776" cy="49377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48456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44368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 명세서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944368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계산식·검증규칙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·화면 사양을 의사코드로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99232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35808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v1.31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37건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960620" y="3035808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102352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16168" y="2011680"/>
            <a:ext cx="493776" cy="49377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16168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컴포넌트 리스트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구성요소를 항목화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리뷰·승인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266944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v2.2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68개 구성요소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228332" y="3035808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70064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83880" y="2011680"/>
            <a:ext cx="493776" cy="49377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83880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79792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+ 검증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479792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생성과 테스트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·문서 자동 교차검증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34656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71232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40종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스키마 v12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9496044" y="3035808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637776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451592" y="2011680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451592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747504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릴리스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9747504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 단일 파일 +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 Python 패키지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802368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838944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v1.51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PM_APP v1.21.1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4956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단계는 리뷰 게이트로 끝난다. 다음 단계의 작업은 이전 단계가 승인된 뒤에만 시작한다.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266944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산출물: 개발계획서 · 프로그래밍 명세서 · UI 컴포넌트 리스트 · 소스데이터 템플릿(11시트/92컬럼) · 더미 예제 2종 · AI 에이전트 가이드 · 기계판독 계약(JSON) · 애플리케이션 2종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과정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개발하면서 '맞다'를 어떻게 보장했는가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생성된 코드를 믿는 대신, 틀리면 빌드가 깨지도록 구조를 만들었다. 이것이 이 프로젝트의 핵심 방법론이다.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072E34"/>
          </a:solidFill>
          <a:ln w="12700">
            <a:solidFill>
              <a:srgbClr val="1D57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66544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206654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4중 독립 구현 대조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603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계산을 브라우저 엔진·Python 참조구현·워크북 검증기·테스트 자체 기준</a:t>
            </a:r>
            <a:endParaRPr lang="en-US" sz="10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4곳에 따로 구현하고, 모든 인-월이 일치할 때만 통과시킨다.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172200" y="1828800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072E34"/>
          </a:solidFill>
          <a:ln w="12700">
            <a:solidFill>
              <a:srgbClr val="1D57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2066544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22008" y="206654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↔ 코드 자동 교차검증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5603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계획서·명세서·템플릿·컴포넌트 리스트·계약(JSON)을 매 빌드마다 서로 대조한다.</a:t>
            </a:r>
            <a:endParaRPr lang="en-US" sz="10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어긋나면 빌드가 실패한다 — 사람이 기억할 일로 남기지 않는다.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66928" y="3529584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072E34"/>
          </a:solidFill>
          <a:ln w="12700">
            <a:solidFill>
              <a:srgbClr val="1D57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37673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측정한 뒤에 결정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611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성능 요구치(100과제×1,000명)는 실측 결과 기준의 3배를 넘었다.</a:t>
            </a:r>
            <a:endParaRPr lang="en-US" sz="10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코드를 고치는 대신 요구치를 실측으로 옮겼다 — 100×150에서 810ms/기준 1,000ms.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6172200" y="3529584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072E34"/>
          </a:solidFill>
          <a:ln w="12700">
            <a:solidFill>
              <a:srgbClr val="1D57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28232" y="3767328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28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22008" y="37673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결과의 바이트 동일성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42611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HTML(630 KB)은 45개 소스에서 조립되며, 재조립 결과가</a:t>
            </a:r>
            <a:endParaRPr lang="en-US" sz="10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커밋된 파일과 바이트까지 같아야 한다. 소스와 산출물이 어긋날 수 없다.</a:t>
            </a:r>
            <a:endParaRPr lang="en-US" sz="108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321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760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스위트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355848" y="5321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3355848" y="5760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추적되는 요구사항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44768" y="5321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6144768" y="5760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커밋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933688" y="5321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45+77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8933688" y="5760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 · 도구 파일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기대효과 · 향후 계획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좋아지고, 다음은 무엇인가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기대효과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432304" cy="713232"/>
          </a:xfrm>
          <a:prstGeom prst="roundRect">
            <a:avLst>
              <a:gd name="adj" fmla="val 7692"/>
            </a:avLst>
          </a:prstGeom>
          <a:solidFill>
            <a:srgbClr val="FBEEEA"/>
          </a:solidFill>
          <a:ln w="9525">
            <a:solidFill>
              <a:srgbClr val="EDD3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1883664"/>
            <a:ext cx="2176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3A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엑셀을 사람 축으로 수동 합산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54096" y="1828800"/>
            <a:ext cx="384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93008" y="1828800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1024" y="1883664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인력별 월 합계를 자동 산출·표시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2432304" cy="713232"/>
          </a:xfrm>
          <a:prstGeom prst="roundRect">
            <a:avLst>
              <a:gd name="adj" fmla="val 7692"/>
            </a:avLst>
          </a:prstGeom>
          <a:solidFill>
            <a:srgbClr val="FBEEEA"/>
          </a:solidFill>
          <a:ln w="9525">
            <a:solidFill>
              <a:srgbClr val="EDD3C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" y="2761488"/>
            <a:ext cx="2176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3A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과부하를 사후에 인지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54096" y="2706624"/>
            <a:ext cx="384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93008" y="2706624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21024" y="2761488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임계값 초과·과소 구간을 사전에 표시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2432304" cy="713232"/>
          </a:xfrm>
          <a:prstGeom prst="roundRect">
            <a:avLst>
              <a:gd name="adj" fmla="val 7692"/>
            </a:avLst>
          </a:prstGeom>
          <a:solidFill>
            <a:srgbClr val="FBEEEA"/>
          </a:solidFill>
          <a:ln w="9525">
            <a:solidFill>
              <a:srgbClr val="EDD3C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" y="3639312"/>
            <a:ext cx="2176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3A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 변경 시 표를 다시 작성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54096" y="3584448"/>
            <a:ext cx="384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493008" y="3584448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21024" y="3639312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날짜만 고치고 즉시 재시뮬레이션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462272"/>
            <a:ext cx="2432304" cy="713232"/>
          </a:xfrm>
          <a:prstGeom prst="roundRect">
            <a:avLst>
              <a:gd name="adj" fmla="val 7692"/>
            </a:avLst>
          </a:prstGeom>
          <a:solidFill>
            <a:srgbClr val="FBEEEA"/>
          </a:solidFill>
          <a:ln w="9525">
            <a:solidFill>
              <a:srgbClr val="EDD3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" y="4517136"/>
            <a:ext cx="2176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3A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숫자의 근거를 되짚기 어려움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054096" y="4462272"/>
            <a:ext cx="384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493008" y="446227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1024" y="451713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곱셈의 모든 항을 상세 시트로 추적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327648" y="14447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확장 계획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327648" y="1828800"/>
            <a:ext cx="5294376" cy="1042416"/>
          </a:xfrm>
          <a:prstGeom prst="roundRect">
            <a:avLst>
              <a:gd name="adj" fmla="val 701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28816" y="2011680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02809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28816" y="201168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966960" y="20116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1~2주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528816" y="239572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미배정 수요를 그래프에도 표시 · 결과 워크북에 미배정 구간 반영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27648" y="3017520"/>
            <a:ext cx="5294376" cy="1042416"/>
          </a:xfrm>
          <a:prstGeom prst="roundRect">
            <a:avLst>
              <a:gd name="adj" fmla="val 701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528816" y="3200400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00A89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28816" y="320040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966960" y="3200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1~2개월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28816" y="3584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근무일·휴일 달력 반영 · 시나리오 비교(A안/B안 동시 보기)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327648" y="4206240"/>
            <a:ext cx="5294376" cy="1042416"/>
          </a:xfrm>
          <a:prstGeom prst="roundRect">
            <a:avLst>
              <a:gd name="adj" fmla="val 701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28816" y="4389120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02C39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28816" y="438912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966960" y="43891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검토 필요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528816" y="477316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사용자 동시 편집을 위한 서버 형태 · 인사/CTMS 연계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327648" y="5413248"/>
            <a:ext cx="5294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확장에 필요한 기술은 모두 현재 구조 안에 있다. 계산 엔진(core)은 화면과 분리되어 있어, 서버형으로 가더라도 숫자를 만드는 코드는 그대로 쓴다.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화면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6304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타임라인</a:t>
            </a:r>
            <a:endParaRPr lang="en-US" sz="1250" dirty="0"/>
          </a:p>
        </p:txBody>
      </p:sp>
      <p:pic>
        <p:nvPicPr>
          <p:cNvPr id="5" name="Image 0" descr="/home/user/project1/output/deck/03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55648"/>
            <a:ext cx="5330952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329184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기간별 색상과 마일스톤. 과제의 시작·종료와 각 기간의 길이를 한눈에.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146304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인력별 월 FTE</a:t>
            </a:r>
            <a:endParaRPr lang="en-US" sz="1250" dirty="0"/>
          </a:p>
        </p:txBody>
      </p:sp>
      <p:pic>
        <p:nvPicPr>
          <p:cNvPr id="8" name="Image 1" descr="/home/user/project1/output/deck/05_resource_by_per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55648"/>
            <a:ext cx="5330952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72200" y="329184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축으로 합산. 과다(▲)·과소(▼)를 색과 기호로 동시에 표시.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385876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대비 투입</a:t>
            </a:r>
            <a:endParaRPr lang="en-US" sz="1250" dirty="0"/>
          </a:p>
        </p:txBody>
      </p:sp>
      <p:pic>
        <p:nvPicPr>
          <p:cNvPr id="11" name="Image 2" descr="/home/user/project1/output/deck/04_standard_vs_staff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51376"/>
            <a:ext cx="5330952" cy="14813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66928" y="5687568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과제가 자기 표준만큼 받고 있는지. 행을 누르면 그 달의 근거가 열린다.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6172200" y="385876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가동 추이</a:t>
            </a:r>
            <a:endParaRPr lang="en-US" sz="1250" dirty="0"/>
          </a:p>
        </p:txBody>
      </p:sp>
      <p:pic>
        <p:nvPicPr>
          <p:cNvPr id="14" name="Image 3" descr="/home/user/project1/output/deck/07_project_utilis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151376"/>
            <a:ext cx="5330952" cy="14813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72200" y="5687568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과제의 월별 추이를 포트폴리오 평균 기준선과 함께.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PRAP 프로젝트 소개자료</dc:title>
  <dc:subject>PptxGenJS Presentation</dc:subject>
  <dc:creator>PRAP</dc:creator>
  <cp:lastModifiedBy>PRAP</cp:lastModifiedBy>
  <cp:revision>1</cp:revision>
  <dcterms:created xsi:type="dcterms:W3CDTF">2026-09-15T14:03:28Z</dcterms:created>
  <dcterms:modified xsi:type="dcterms:W3CDTF">2026-09-15T14:03:28Z</dcterms:modified>
</cp:coreProperties>
</file>