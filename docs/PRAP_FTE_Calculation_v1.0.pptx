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in PRAP comes from one multiplication per assignment per month. Everything else on screen is those numbers added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terms are resolved for the month, not once per assignment. That is what lets figures move on their own when a period boundary is crossed or a second person joins a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REQ-CAL-15 and REQ-CAL-17. The periods are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Standards fill in the period rows; the calculation reads the period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REQ-CAL-16. A trial run without a CDA still has the data to handle, and it lands on the lead data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weight is a fact only the planner knows; guessing 1.00 would invent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 of the running application over the 10x10 dummy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its whole timeline the ten-project set comes to 346.59 FTE-months.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import takes the file's Config with it, which is why the application now names any setting an import 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Must / conditional / incomplete: only 'must' errors refuse a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implementations: the browser engine, prap_io.py, verify_source_workbook.py, and test_app.py's own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4173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PRAP  ·  how the numbers are made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828800"/>
            <a:ext cx="8778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an FTE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15468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BFD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the application draws is a sum of one small multiplication, done once per assignment per month. This is that multiplication, where each of its numbers comes from, and what happens when one is missing.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09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C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  =  period weight  ×  (role factor ÷ sharers)  ×  person weight  ×  coverage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 </a:t>
            </a:r>
            <a:pPr indent="0" marL="0">
              <a:buNone/>
            </a:pPr>
            <a:r>
              <a:rPr lang="en-US" sz="1050" dirty="0">
                <a:solidFill>
                  <a:srgbClr val="9FB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core/06_calculate.js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 </a:t>
            </a:r>
            <a:pPr indent="0" marL="0">
              <a:buNone/>
            </a:pPr>
            <a:r>
              <a:rPr lang="en-US" sz="1050" dirty="0">
                <a:solidFill>
                  <a:srgbClr val="9FB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33488" y="5806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 FTE  </a:t>
            </a:r>
            <a:pPr indent="0" marL="0">
              <a:buNone/>
            </a:pPr>
            <a:r>
              <a:rPr lang="en-US" sz="1050" dirty="0">
                <a:solidFill>
                  <a:srgbClr val="9FBB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160 h / month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multiplication, four numbers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out once for every assignment, in every month that assignment touches.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11027664" cy="1371600"/>
          </a:xfrm>
          <a:prstGeom prst="roundRect">
            <a:avLst>
              <a:gd name="adj" fmla="val 4000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2128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 =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35608" y="221284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35608" y="22128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weight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2212848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67912" y="2212848"/>
            <a:ext cx="288036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67912" y="221284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factor ÷ sharers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2212848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077456" y="2212848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77456" y="22128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weight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212848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509760" y="2212848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0" y="221284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520440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weight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858768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heavy this stretch of the project is.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5720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ProjectPeriod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392424" y="3520440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factor ÷ sharers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92424" y="3858768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role costs, split between its holders.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392424" y="45720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RoleFactor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520440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weight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3858768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that person this project has.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45720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/ override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3520440"/>
            <a:ext cx="2551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043416" y="3858768"/>
            <a:ext cx="2551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calendar month is covered.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043416" y="4572000"/>
            <a:ext cx="2551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5166360"/>
            <a:ext cx="11027664" cy="960120"/>
          </a:xfrm>
          <a:prstGeom prst="roundRect">
            <a:avLst>
              <a:gd name="adj" fmla="val 5714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303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else enters it. </a:t>
            </a:r>
            <a:pPr indent="0" marL="0">
              <a:buNone/>
            </a:pPr>
            <a:r>
              <a:rPr lang="en-US" sz="13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fifth hidden factor and no rounding step — and capacity_fte is not in the multiplication at all. It is what a person’s load is later compared against, never something it is scaled by.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First: which months does this assignment touch?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before any of the four terms — it decides which months exist at all.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475488" cy="475488"/>
          </a:xfrm>
          <a:prstGeom prst="ellipse">
            <a:avLst/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470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assignment dates are optional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2402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date means the project’s own, so an assignment with neither runs for the whole project — which is what most assignments are. Fill them in only for a partial involvement.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32461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project’s own window is its PERIODS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3639312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period_start to latest period_end. Not its milestones — several of those mark moments inside the run rather than its edges, and taking the window from them stretched projects across months belonging to no period.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98448" y="4800600"/>
            <a:ext cx="5852160" cy="777240"/>
          </a:xfrm>
          <a:prstGeom prst="roundRect">
            <a:avLst>
              <a:gd name="adj" fmla="val 7059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99616" y="4919472"/>
            <a:ext cx="54498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finds nothing   </a:t>
            </a:r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keeps its own typed start and end dates, and V-12 reports that it has no periods.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452360" y="1847088"/>
            <a:ext cx="4142232" cy="3730752"/>
          </a:xfrm>
          <a:prstGeom prst="roundRect">
            <a:avLst>
              <a:gd name="adj" fmla="val 1471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26680" y="20848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Coverage, once the window is known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4323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 of that calendar month’s days the window actually covers.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month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50976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1.0000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726680" y="3456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1 June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9509760" y="34564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÷ 30 = 0.0333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4023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a part-month sharer contribute less with no special case anywhere: their coverage is already smaller.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weight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heavy this stretch of the project is.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 =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35608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0F5A52"/>
          </a:solidFill>
          <a:ln w="9525">
            <a:solidFill>
              <a:srgbClr val="0F5A5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35608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weight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538728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67912" y="1600200"/>
            <a:ext cx="288036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67912" y="16002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factor ÷ sharers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77456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weight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80576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0" y="160020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1600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423160"/>
            <a:ext cx="475488" cy="475488"/>
          </a:xfrm>
          <a:prstGeom prst="ellipse">
            <a:avLst/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23957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 whose span contains the 1st of that month supplies its weight.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299923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A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ProjectPeriod.weight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298448" y="336499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project’s periods are its own rows — derived from its milestones for a clinical trial, entered by hand for an ‘Others’ project.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298448" y="4224528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99616" y="4343400"/>
            <a:ext cx="5541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finds nothing   </a:t>
            </a:r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1.00, and V-12 reports the gap. 1.00 is not a neutral choice — it silently costs that month at full rate.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2377440"/>
            <a:ext cx="4142232" cy="3246120"/>
          </a:xfrm>
          <a:prstGeom prst="roundRect">
            <a:avLst>
              <a:gd name="adj" fmla="val 1690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26680" y="2606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that surprises people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9718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PeriodWeightStandard is not read here.</a:t>
            </a:r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assumption table the derivation uses to fill in ProjectPeriod.weight. Once a period row exists, the calculation reads that row.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why an ‘Others’ project calculates perfectly well with no standard rows anywhere.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factor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ROLE costs the project — not what each person holding it costs.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 =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35608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35608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weight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538728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67912" y="1600200"/>
            <a:ext cx="2880360" cy="475488"/>
          </a:xfrm>
          <a:prstGeom prst="roundRect">
            <a:avLst>
              <a:gd name="adj" fmla="val 15385"/>
            </a:avLst>
          </a:prstGeom>
          <a:solidFill>
            <a:srgbClr val="0F5A52"/>
          </a:solidFill>
          <a:ln w="9525">
            <a:solidFill>
              <a:srgbClr val="0F5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67912" y="16002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factor ÷ sharers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77456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weight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80576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0" y="160020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1600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423160"/>
            <a:ext cx="475488" cy="475488"/>
          </a:xfrm>
          <a:prstGeom prst="ellipse">
            <a:avLst/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23774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Looked up on the full composition, in two steps: the project’s own work scope first, then the row whose work_scope_type is empty, which stands for every scope.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298448" y="3291840"/>
            <a:ext cx="5943600" cy="502920"/>
          </a:xfrm>
          <a:prstGeom prst="roundRect">
            <a:avLst>
              <a:gd name="adj" fmla="val 10909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9888" y="3291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project_type · clinical_phase · work_scope_type · period_name · role_name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298448" y="3977640"/>
            <a:ext cx="5943600" cy="960120"/>
          </a:xfrm>
          <a:prstGeom prst="roundRect">
            <a:avLst>
              <a:gd name="adj" fmla="val 5714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99616" y="4096512"/>
            <a:ext cx="55412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finds nothing   </a:t>
            </a:r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1.00, and V-23 names the exact combination and counts the person-months it affected.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452360" y="2377440"/>
            <a:ext cx="4142232" cy="3566160"/>
          </a:xfrm>
          <a:prstGeom prst="roundRect">
            <a:avLst>
              <a:gd name="adj" fmla="val 1538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26680" y="25786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Then: absorption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2926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another role names this one in absorbed_by and nobody at all holds it that month, its factor is added here. One hop only.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data manager, alone on a trial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4069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1.23  +  0.49  =  1.72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726680" y="4462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factor, plus the absent Clinical Data Associator’s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50292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ROWS, not as names in the program — empty the column and nothing is absorbed.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Sharers, and person weight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divides the role’s cost; the other says how much of the person there is.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002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 =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35608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35608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 weight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538728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67912" y="1600200"/>
            <a:ext cx="2880360" cy="475488"/>
          </a:xfrm>
          <a:prstGeom prst="roundRect">
            <a:avLst>
              <a:gd name="adj" fmla="val 15385"/>
            </a:avLst>
          </a:prstGeom>
          <a:solidFill>
            <a:srgbClr val="0F5A52"/>
          </a:solidFill>
          <a:ln w="9525">
            <a:solidFill>
              <a:srgbClr val="0F5A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67912" y="16002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factor ÷ sharers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48272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77456" y="1600200"/>
            <a:ext cx="210312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77456" y="16002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weight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9180576" y="1600200"/>
            <a:ext cx="329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0" y="1600200"/>
            <a:ext cx="1737360" cy="475488"/>
          </a:xfrm>
          <a:prstGeom prst="roundRect">
            <a:avLst>
              <a:gd name="adj" fmla="val 15385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16002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423160"/>
            <a:ext cx="5486400" cy="3520440"/>
          </a:xfrm>
          <a:prstGeom prst="roundRect">
            <a:avLst>
              <a:gd name="adj" fmla="val 1558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2651760"/>
            <a:ext cx="475488" cy="475488"/>
          </a:xfrm>
          <a:prstGeom prst="ellipse">
            <a:avLst/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Sharers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2461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distinct people hold that same role, on that same project, in that month. The factor is divided between them.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0690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0.78  ÷  2  =  0.39 each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553712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month, so one of two sharers leaving in June returns July to a full share by itself. By people, so one person on two rows is one person and does not halve their own load.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55080" y="2423160"/>
            <a:ext cx="5239512" cy="3520440"/>
          </a:xfrm>
          <a:prstGeom prst="roundRect">
            <a:avLst>
              <a:gd name="adj" fmla="val 1558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29400" y="2651760"/>
            <a:ext cx="475488" cy="475488"/>
          </a:xfrm>
          <a:prstGeom prst="ellipse">
            <a:avLst/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2940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6700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 weight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2461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PersonPeriodWeight window covers the 1st of the month, its weight_override is used; otherwise the assignment’s own person_weight.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override REPLACES the weight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its months — it does not multiply it. That is the single thing about this sheet most often got wrong.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502920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0568" y="5148072"/>
            <a:ext cx="45354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finds nothing   </a:t>
            </a:r>
            <a:pPr indent="0" marL="0"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weight is 0.00 — the row contributes nothing.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through: Kim S., February 2027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PSN-001 is on six projects that month. Each row is one assignment’s multiplication.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11027664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1965960"/>
                <a:gridCol w="841248"/>
                <a:gridCol w="896112"/>
                <a:gridCol w="841248"/>
                <a:gridCol w="841248"/>
                <a:gridCol w="658368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 that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Period wt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Role factor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÷ sharers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Person wt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Cov.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7A3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FTE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PRJ-001  Biosimilar (Healthy) Ph1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Close-out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0.2238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PRJ-002  Biosimilar (Patient) Ph2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(interim)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0.2954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PRJ-003  NewDrug CT Ph3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1.38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0.3594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PRJ-005  Biosimilar (Patient) Ph1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(interim)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0.1770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PRJ-007  Biosimilar (Healthy) Ph3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(interim)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0.1998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PRJ-009  Others — CDISC 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(hand-entered)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B24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F5A5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0.3432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3895344"/>
            <a:ext cx="11027664" cy="329184"/>
          </a:xfrm>
          <a:prstGeom prst="rect">
            <a:avLst/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389534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personal FTE — PSN-001, Feb 2027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405872" y="38953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1.5986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66928" y="4526280"/>
            <a:ext cx="11027664" cy="1417320"/>
          </a:xfrm>
          <a:prstGeom prst="roundRect">
            <a:avLst>
              <a:gd name="adj" fmla="val 3871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681728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one row across.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PRJ-002 is  1.01 × (0.78 ÷ 2) × 0.75 × 1.00 = 0.2954. Its factor is halved because a second person holds Project oversight on that project that month, and its person weight comes from a PersonPeriodWeight row rather than the assignment.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PRJ-009 is an ‘Others’ project: its 0.80 was typed into ProjectPeriod, and no PeriodWeightStandard row exists for it anywhere.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totals you actually read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person-months, added along different axes — which is why they can never disagree.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239512" cy="3063240"/>
          </a:xfrm>
          <a:prstGeom prst="roundRect">
            <a:avLst>
              <a:gd name="adj" fmla="val 1791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2057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personal FTE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468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1.5986</a:t>
            </a:r>
            <a:pPr indent="0" marL="0">
              <a:buNone/>
            </a:pPr>
            <a:r>
              <a:rPr lang="en-US" sz="160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FTE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3218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PSN-001, Feb 2027 — the six rows on the last slide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657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that person’s assignments for the month, across every project. This is what the person utilisation chart plots, and what the over- and under-allocation flags are measured against — the only place capacity_fte is used.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39512" cy="3063240"/>
          </a:xfrm>
          <a:prstGeom prst="roundRect">
            <a:avLst>
              <a:gd name="adj" fmla="val 1791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20574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project FTE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468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2.1095</a:t>
            </a:r>
            <a:pPr indent="0" marL="0">
              <a:buNone/>
            </a:pPr>
            <a:r>
              <a:rPr lang="en-US" sz="1600" dirty="0">
                <a:solidFill>
                  <a:srgbClr val="6B76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FTE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6647688" y="3218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PRJ-003, Feb 2027 — five people, of whom PSN-001 gave 0.3594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6576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that project’s assignments for the month, across every person. This is what the project utilisation chart plots, stacked by person, and what the timeline band tooltips report.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138928"/>
            <a:ext cx="11027664" cy="960120"/>
          </a:xfrm>
          <a:prstGeom prst="roundRect">
            <a:avLst>
              <a:gd name="adj" fmla="val 5714"/>
            </a:avLst>
          </a:prstGeom>
          <a:solidFill>
            <a:srgbClr val="E4EFEC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85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these two, filtered.  </a:t>
            </a:r>
            <a:pPr indent="0" marL="0"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demand is every person-month in the current filter and horizon added up. Change a filter and all of it is recomputed — none of it is stored, and none is written to the workbook.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move a figure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settings on the Config sheet. Two change the arithmetic itself.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27664" cy="758952"/>
          </a:xfrm>
          <a:prstGeom prst="roundRect">
            <a:avLst>
              <a:gd name="adj" fmla="val 7229"/>
            </a:avLst>
          </a:prstGeom>
          <a:solidFill>
            <a:srgbClr val="E4EFEC"/>
          </a:solidFill>
          <a:ln w="9525">
            <a:solidFill>
              <a:srgbClr val="C3DAD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split_shared_role_fte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67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44568" y="2002536"/>
            <a:ext cx="1572768" cy="320040"/>
          </a:xfrm>
          <a:prstGeom prst="roundRect">
            <a:avLst>
              <a:gd name="adj" fmla="val 17143"/>
            </a:avLst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44568" y="200253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figures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81928" y="187452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0 and each holder of a shared role is charged the whole factor instead of a share. Term 03 disappears.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11027664" cy="758952"/>
          </a:xfrm>
          <a:prstGeom prst="roundRect">
            <a:avLst>
              <a:gd name="adj" fmla="val 7229"/>
            </a:avLst>
          </a:prstGeom>
          <a:solidFill>
            <a:srgbClr val="E4EFEC"/>
          </a:solidFill>
          <a:ln w="9525">
            <a:solidFill>
              <a:srgbClr val="C3DA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743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absorb_unstaffed_role_factor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0358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4568" y="2871216"/>
            <a:ext cx="1572768" cy="320040"/>
          </a:xfrm>
          <a:prstGeom prst="roundRect">
            <a:avLst>
              <a:gd name="adj" fmla="val 17143"/>
            </a:avLst>
          </a:prstGeom>
          <a:solidFill>
            <a:srgbClr val="0F5A52"/>
          </a:solidFill>
          <a:ln w="12700">
            <a:solidFill>
              <a:srgbClr val="0F5A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44568" y="2871216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figures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281928" y="274320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0 and an unstaffed role simply costs nothing. On, its factor lands on whoever covers for 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520440"/>
            <a:ext cx="11027664" cy="758952"/>
          </a:xfrm>
          <a:prstGeom prst="roundRect">
            <a:avLst>
              <a:gd name="adj" fmla="val 7229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over_allocation_fte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1.50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361188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monthly personal FTE above which a month is flagged. Absolute — not scaled by anyone’s capacity.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389120"/>
            <a:ext cx="11027664" cy="758952"/>
          </a:xfrm>
          <a:prstGeom prst="roundRect">
            <a:avLst>
              <a:gd name="adj" fmla="val 7229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under_allocation_fte  /  _min_months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731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0.60 / 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448056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floor, and how many consecutive months below it before a run is reported. Also absolute.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5257800"/>
            <a:ext cx="11027664" cy="758952"/>
          </a:xfrm>
          <a:prstGeom prst="roundRect">
            <a:avLst>
              <a:gd name="adj" fmla="val 7229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4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fte_hours_per_month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641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160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81928" y="5349240"/>
            <a:ext cx="5084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only. The FTE figure times this is the hours figure; the person-months do not move.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 figure can be quietly wrong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6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lookups fall back to 1.00 — exactly the value that makes a term vanish from a product.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62528" cy="2286000"/>
          </a:xfrm>
          <a:prstGeom prst="roundRect">
            <a:avLst>
              <a:gd name="adj" fmla="val 2400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2140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B36A12"/>
          </a:solidFill>
          <a:ln w="12700">
            <a:solidFill>
              <a:srgbClr val="B36A1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V-12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month in no period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00400"/>
            <a:ext cx="295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 is costed at full weight, 1.00, as though the period plan covered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9496" y="1874520"/>
            <a:ext cx="3462528" cy="2286000"/>
          </a:xfrm>
          <a:prstGeom prst="roundRect">
            <a:avLst>
              <a:gd name="adj" fmla="val 2400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5528" y="212140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B36A12"/>
          </a:solidFill>
          <a:ln w="12700">
            <a:solidFill>
              <a:srgbClr val="B36A1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05528" y="21214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V-23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05528" y="2606040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role with no factor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3200400"/>
            <a:ext cx="295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exact composition, and counts the person-months that came out at 1.00.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2064" y="1874520"/>
            <a:ext cx="3462528" cy="2286000"/>
          </a:xfrm>
          <a:prstGeom prst="roundRect">
            <a:avLst>
              <a:gd name="adj" fmla="val 2400"/>
            </a:avLst>
          </a:prstGeom>
          <a:solidFill>
            <a:srgbClr val="FBF0DF"/>
          </a:solidFill>
          <a:ln w="9525">
            <a:solidFill>
              <a:srgbClr val="EBD9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8096" y="212140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B36A12"/>
          </a:solidFill>
          <a:ln w="12700">
            <a:solidFill>
              <a:srgbClr val="B36A1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88096" y="21214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V-30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88096" y="2606040"/>
            <a:ext cx="2950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setting missing from Config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88096" y="3200400"/>
            <a:ext cx="29504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default is in force rather than the plan’s own value.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389120"/>
            <a:ext cx="11027664" cy="1417320"/>
          </a:xfrm>
          <a:prstGeom prst="roundRect">
            <a:avLst>
              <a:gd name="adj" fmla="val 3871"/>
            </a:avLst>
          </a:prstGeom>
          <a:solidFill>
            <a:srgbClr val="F2F7F5"/>
          </a:solidFill>
          <a:ln w="9525">
            <a:solidFill>
              <a:srgbClr val="D6E0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" y="4553712"/>
            <a:ext cx="10442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refuses your data.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4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reported at full severity and the rows are kept, because a missing assumption is a fact about a document somebody else maintains — not a fault in the row you just typed. A convenient fallback is dangerous precisely because the resulting number looks exactly like an answer.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002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6FB5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one line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01168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numbers, once per assignment per month. Everything else is a sum.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7033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C9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  =  period weight  ×  (role factor ÷ sharers)  ×  person weight  ×  coverage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526280"/>
            <a:ext cx="8595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9FB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was read out of the running application over PRAP_SourceData_Dummy_10x10_v1.5.xlsx. The same numbers are produced independently by two Python implementations, and all 1,227 person-months of the 62-project set are compared between the four on every test run.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Anatomy of an FTE</dc:title>
  <dc:subject>PptxGenJS Presentation</dc:subject>
  <dc:creator>PRAP</dc:creator>
  <cp:lastModifiedBy>PRAP</cp:lastModifiedBy>
  <cp:revision>1</cp:revision>
  <dcterms:created xsi:type="dcterms:W3CDTF">2026-08-28T14:24:02Z</dcterms:created>
  <dcterms:modified xsi:type="dcterms:W3CDTF">2026-08-28T14:24:02Z</dcterms:modified>
</cp:coreProperties>
</file>