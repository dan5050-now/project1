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an orientation map. It carries no independent authority: where it disagrees with the plan or the specification, those documents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last line: the agent has no write path to the EDC. That is what keeps it decision support rather than a system of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is lost, ask which clock they are asking about. Nearly every 'when does that happen' question resolves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one is where we are now, at Step 2. Clocks two and three do not start until the software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'can we trust an LLM with endpoint-critical data'. It never touches the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approved. Step 2 is in review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3 and 6 need a pilot study chosen. That decision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AC-06 is hybrid: deterministic matching on rule id and field, with the model reading free-text query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text in the last lane is the boundary: the agent has no write path to any external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OQ-08 settled this at the Step 1 review: review and issuing are often the same person, so strict segregation would add friction without adding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naming the next decision: reviewing the query wording in Rule_Messages. Nothing freezes until that is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1783080"/>
            <a:ext cx="10515600" cy="795528"/>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Tumor Evaluation</a:t>
            </a:r>
            <a:endParaRPr lang="en-US" sz="5000" dirty="0"/>
          </a:p>
        </p:txBody>
      </p:sp>
      <p:sp>
        <p:nvSpPr>
          <p:cNvPr id="3" name="Text 1"/>
          <p:cNvSpPr/>
          <p:nvPr/>
        </p:nvSpPr>
        <p:spPr>
          <a:xfrm>
            <a:off x="566928" y="2578608"/>
            <a:ext cx="10515600" cy="868680"/>
          </a:xfrm>
          <a:prstGeom prst="rect">
            <a:avLst/>
          </a:prstGeom>
          <a:noFill/>
          <a:ln/>
        </p:spPr>
        <p:txBody>
          <a:bodyPr wrap="square" lIns="0" tIns="0" rIns="0" bIns="0" rtlCol="0" anchor="ctr"/>
          <a:lstStyle/>
          <a:p>
            <a:pPr indent="0" marL="0">
              <a:buNone/>
            </a:pPr>
            <a:r>
              <a:rPr lang="en-US" sz="5000" b="1" dirty="0">
                <a:solidFill>
                  <a:srgbClr val="8FC4A9"/>
                </a:solidFill>
                <a:latin typeface="Cambria" pitchFamily="34" charset="0"/>
                <a:ea typeface="Cambria" pitchFamily="34" charset="-122"/>
                <a:cs typeface="Cambria" pitchFamily="34" charset="-120"/>
              </a:rPr>
              <a:t>Review Agent</a:t>
            </a:r>
            <a:endParaRPr lang="en-US" sz="5000" dirty="0"/>
          </a:p>
        </p:txBody>
      </p:sp>
      <p:sp>
        <p:nvSpPr>
          <p:cNvPr id="4" name="Text 2"/>
          <p:cNvSpPr/>
          <p:nvPr/>
        </p:nvSpPr>
        <p:spPr>
          <a:xfrm>
            <a:off x="566928" y="3657600"/>
            <a:ext cx="8046720" cy="548640"/>
          </a:xfrm>
          <a:prstGeom prst="rect">
            <a:avLst/>
          </a:prstGeom>
          <a:noFill/>
          <a:ln/>
        </p:spPr>
        <p:txBody>
          <a:bodyPr wrap="square" lIns="0" tIns="0" rIns="0" bIns="0" rtlCol="0" anchor="t"/>
          <a:lstStyle/>
          <a:p>
            <a:pPr indent="0" marL="0">
              <a:lnSpc>
                <a:spcPts val="2300"/>
              </a:lnSpc>
              <a:buNone/>
            </a:pPr>
            <a:r>
              <a:rPr lang="en-US" sz="1600" dirty="0">
                <a:solidFill>
                  <a:srgbClr val="E3EDE7"/>
                </a:solidFill>
                <a:latin typeface="Calibri" pitchFamily="34" charset="0"/>
                <a:ea typeface="Calibri" pitchFamily="34" charset="-122"/>
                <a:cs typeface="Calibri" pitchFamily="34" charset="-120"/>
              </a:rPr>
              <a:t>How the system is put together, what each part does, and who is responsible for it.</a:t>
            </a:r>
            <a:endParaRPr lang="en-US" sz="1600" dirty="0"/>
          </a:p>
        </p:txBody>
      </p:sp>
      <p:sp>
        <p:nvSpPr>
          <p:cNvPr id="5" name="Text 3"/>
          <p:cNvSpPr/>
          <p:nvPr/>
        </p:nvSpPr>
        <p:spPr>
          <a:xfrm>
            <a:off x="566928" y="4526280"/>
            <a:ext cx="2231136"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RECIST 1.1 + iRECIST</a:t>
            </a:r>
            <a:endParaRPr lang="en-US" sz="900" dirty="0"/>
          </a:p>
        </p:txBody>
      </p:sp>
      <p:sp>
        <p:nvSpPr>
          <p:cNvPr id="6" name="Text 4"/>
          <p:cNvSpPr/>
          <p:nvPr/>
        </p:nvSpPr>
        <p:spPr>
          <a:xfrm>
            <a:off x="2999232" y="4526280"/>
            <a:ext cx="1847088"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85 REVIEW POINTS</a:t>
            </a:r>
            <a:endParaRPr lang="en-US" sz="900" dirty="0"/>
          </a:p>
        </p:txBody>
      </p:sp>
      <p:sp>
        <p:nvSpPr>
          <p:cNvPr id="7" name="Text 5"/>
          <p:cNvSpPr/>
          <p:nvPr/>
        </p:nvSpPr>
        <p:spPr>
          <a:xfrm>
            <a:off x="5047488" y="4526280"/>
            <a:ext cx="982980"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83 LIVE</a:t>
            </a:r>
            <a:endParaRPr lang="en-US" sz="900" dirty="0"/>
          </a:p>
        </p:txBody>
      </p:sp>
      <p:sp>
        <p:nvSpPr>
          <p:cNvPr id="8" name="Text 6"/>
          <p:cNvSpPr/>
          <p:nvPr/>
        </p:nvSpPr>
        <p:spPr>
          <a:xfrm>
            <a:off x="566928" y="5943600"/>
            <a:ext cx="10058400" cy="274320"/>
          </a:xfrm>
          <a:prstGeom prst="rect">
            <a:avLst/>
          </a:prstGeom>
          <a:noFill/>
          <a:ln/>
        </p:spPr>
        <p:txBody>
          <a:bodyPr wrap="square" lIns="0" tIns="0" rIns="0" bIns="0" rtlCol="0" anchor="ctr"/>
          <a:lstStyle/>
          <a:p>
            <a:pPr indent="0" marL="0">
              <a:buNone/>
            </a:pPr>
            <a:r>
              <a:rPr lang="en-US" sz="900" dirty="0">
                <a:solidFill>
                  <a:srgbClr val="6E7D72"/>
                </a:solidFill>
                <a:latin typeface="Courier New" pitchFamily="34" charset="0"/>
                <a:ea typeface="Courier New" pitchFamily="34" charset="-122"/>
                <a:cs typeface="Courier New" pitchFamily="34" charset="-120"/>
              </a:rPr>
              <a:t>Concept overview  ·  derived from TEA-PLAN-001 v1.0.0 and TEA-SPEC-001 v1.2.0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WHAT THE AGENT DOES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It re-derives the response data, then argues with it</a:t>
            </a:r>
            <a:endParaRPr lang="en-US" sz="3200" dirty="0"/>
          </a:p>
        </p:txBody>
      </p:sp>
      <p:sp>
        <p:nvSpPr>
          <p:cNvPr id="4" name="Text 2"/>
          <p:cNvSpPr/>
          <p:nvPr/>
        </p:nvSpPr>
        <p:spPr>
          <a:xfrm>
            <a:off x="566928" y="1591056"/>
            <a:ext cx="10241280" cy="749808"/>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Every subject, every timepoint. The agent recomputes what the data should say under the guideline and the protocol, compares that against what was collected, and reconciles the difference against the query history before showing anyone anything.</a:t>
            </a:r>
            <a:endParaRPr lang="en-US" sz="1400" dirty="0"/>
          </a:p>
        </p:txBody>
      </p:sp>
      <p:sp>
        <p:nvSpPr>
          <p:cNvPr id="5" name="Shape 3"/>
          <p:cNvSpPr/>
          <p:nvPr/>
        </p:nvSpPr>
        <p:spPr>
          <a:xfrm>
            <a:off x="5669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6" name="Text 4"/>
          <p:cNvSpPr/>
          <p:nvPr/>
        </p:nvSpPr>
        <p:spPr>
          <a:xfrm>
            <a:off x="7680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RE-DERIVE</a:t>
            </a:r>
            <a:endParaRPr lang="en-US" sz="900" dirty="0"/>
          </a:p>
        </p:txBody>
      </p:sp>
      <p:sp>
        <p:nvSpPr>
          <p:cNvPr id="7" name="Text 5"/>
          <p:cNvSpPr/>
          <p:nvPr/>
        </p:nvSpPr>
        <p:spPr>
          <a:xfrm>
            <a:off x="7680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Sum of diameters, nadir, percent change, all four response components, best overall response, progression dates.</a:t>
            </a:r>
            <a:endParaRPr lang="en-US" sz="1150" dirty="0"/>
          </a:p>
        </p:txBody>
      </p:sp>
      <p:sp>
        <p:nvSpPr>
          <p:cNvPr id="8" name="Shape 6"/>
          <p:cNvSpPr/>
          <p:nvPr/>
        </p:nvSpPr>
        <p:spPr>
          <a:xfrm>
            <a:off x="33101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9" name="Text 7"/>
          <p:cNvSpPr/>
          <p:nvPr/>
        </p:nvSpPr>
        <p:spPr>
          <a:xfrm>
            <a:off x="35112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DETECT</a:t>
            </a:r>
            <a:endParaRPr lang="en-US" sz="900" dirty="0"/>
          </a:p>
        </p:txBody>
      </p:sp>
      <p:sp>
        <p:nvSpPr>
          <p:cNvPr id="10" name="Text 8"/>
          <p:cNvSpPr/>
          <p:nvPr/>
        </p:nvSpPr>
        <p:spPr>
          <a:xfrm>
            <a:off x="35112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85 review points across 7 families - arithmetic mismatches and guideline-conformance failures alike.</a:t>
            </a:r>
            <a:endParaRPr lang="en-US" sz="1150" dirty="0"/>
          </a:p>
        </p:txBody>
      </p:sp>
      <p:sp>
        <p:nvSpPr>
          <p:cNvPr id="11" name="Shape 9"/>
          <p:cNvSpPr/>
          <p:nvPr/>
        </p:nvSpPr>
        <p:spPr>
          <a:xfrm>
            <a:off x="60533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2" name="Text 10"/>
          <p:cNvSpPr/>
          <p:nvPr/>
        </p:nvSpPr>
        <p:spPr>
          <a:xfrm>
            <a:off x="62544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RECONCILE</a:t>
            </a:r>
            <a:endParaRPr lang="en-US" sz="900" dirty="0"/>
          </a:p>
        </p:txBody>
      </p:sp>
      <p:sp>
        <p:nvSpPr>
          <p:cNvPr id="13" name="Text 11"/>
          <p:cNvSpPr/>
          <p:nvPr/>
        </p:nvSpPr>
        <p:spPr>
          <a:xfrm>
            <a:off x="62544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Suppress duplicates of open queries. Judge whether a past answer already justified the data.</a:t>
            </a:r>
            <a:endParaRPr lang="en-US" sz="1150" dirty="0"/>
          </a:p>
        </p:txBody>
      </p:sp>
      <p:sp>
        <p:nvSpPr>
          <p:cNvPr id="14" name="Shape 12"/>
          <p:cNvSpPr/>
          <p:nvPr/>
        </p:nvSpPr>
        <p:spPr>
          <a:xfrm>
            <a:off x="87965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5" name="Text 13"/>
          <p:cNvSpPr/>
          <p:nvPr/>
        </p:nvSpPr>
        <p:spPr>
          <a:xfrm>
            <a:off x="89976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EXPLAIN</a:t>
            </a:r>
            <a:endParaRPr lang="en-US" sz="900" dirty="0"/>
          </a:p>
        </p:txBody>
      </p:sp>
      <p:sp>
        <p:nvSpPr>
          <p:cNvPr id="16" name="Text 14"/>
          <p:cNvSpPr/>
          <p:nvPr/>
        </p:nvSpPr>
        <p:spPr>
          <a:xfrm>
            <a:off x="89976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Five reviewer-facing texts per finding, plus a confidence rate saying how likely it is to be a correct query.</a:t>
            </a:r>
            <a:endParaRPr lang="en-US" sz="1150" dirty="0"/>
          </a:p>
        </p:txBody>
      </p:sp>
      <p:sp>
        <p:nvSpPr>
          <p:cNvPr id="17" name="Shape 15"/>
          <p:cNvSpPr/>
          <p:nvPr/>
        </p:nvSpPr>
        <p:spPr>
          <a:xfrm>
            <a:off x="566928" y="4700016"/>
            <a:ext cx="10835640" cy="713232"/>
          </a:xfrm>
          <a:prstGeom prst="roundRect">
            <a:avLst>
              <a:gd name="adj" fmla="val 6410"/>
            </a:avLst>
          </a:prstGeom>
          <a:solidFill>
            <a:srgbClr val="E3EDE7"/>
          </a:solidFill>
          <a:ln w="12700">
            <a:solidFill>
              <a:srgbClr val="1D4A3A"/>
            </a:solidFill>
            <a:prstDash val="solid"/>
          </a:ln>
        </p:spPr>
      </p:sp>
      <p:sp>
        <p:nvSpPr>
          <p:cNvPr id="18" name="Text 16"/>
          <p:cNvSpPr/>
          <p:nvPr/>
        </p:nvSpPr>
        <p:spPr>
          <a:xfrm>
            <a:off x="841248" y="4700016"/>
            <a:ext cx="10287000" cy="713232"/>
          </a:xfrm>
          <a:prstGeom prst="rect">
            <a:avLst/>
          </a:prstGeom>
          <a:noFill/>
          <a:ln/>
        </p:spPr>
        <p:txBody>
          <a:bodyPr wrap="square" lIns="0" tIns="0" rIns="0" bIns="0" rtlCol="0" anchor="ctr"/>
          <a:lstStyle/>
          <a:p>
            <a:pPr indent="0" marL="0">
              <a:buNone/>
            </a:pPr>
            <a:r>
              <a:rPr lang="en-US" sz="1350" i="1" dirty="0">
                <a:solidFill>
                  <a:srgbClr val="1D4A3A"/>
                </a:solidFill>
                <a:latin typeface="Calibri" pitchFamily="34" charset="0"/>
                <a:ea typeface="Calibri" pitchFamily="34" charset="-122"/>
                <a:cs typeface="Calibri" pitchFamily="34" charset="-120"/>
              </a:rPr>
              <a:t>The agent produces suspicions. A qualified person confirms every issue and issues every query manually.</a:t>
            </a:r>
            <a:endParaRPr lang="en-US" sz="1350" dirty="0"/>
          </a:p>
        </p:txBody>
      </p:sp>
      <p:sp>
        <p:nvSpPr>
          <p:cNvPr id="19" name="Text 17"/>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20" name="Text 18"/>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THE ORGANISING IDEA</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Three clocks,</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running at different speeds</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Most confusion about this system comes from reading it as one long process. It is three, ticking at different rates with different people involved.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THREE CLOCKS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000" b="1" dirty="0">
                <a:solidFill>
                  <a:srgbClr val="16201C"/>
                </a:solidFill>
                <a:latin typeface="Cambria" pitchFamily="34" charset="0"/>
                <a:ea typeface="Cambria" pitchFamily="34" charset="-122"/>
                <a:cs typeface="Cambria" pitchFamily="34" charset="-120"/>
              </a:rPr>
              <a:t>Different cadence, different people, different output</a:t>
            </a:r>
            <a:endParaRPr lang="en-US" sz="3000" dirty="0"/>
          </a:p>
        </p:txBody>
      </p:sp>
      <p:sp>
        <p:nvSpPr>
          <p:cNvPr id="4" name="Shape 2"/>
          <p:cNvSpPr/>
          <p:nvPr/>
        </p:nvSpPr>
        <p:spPr>
          <a:xfrm>
            <a:off x="566928"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86384"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ONCE - FOR THE PRODUCT</a:t>
            </a:r>
            <a:endParaRPr lang="en-US" sz="800" dirty="0"/>
          </a:p>
        </p:txBody>
      </p:sp>
      <p:sp>
        <p:nvSpPr>
          <p:cNvPr id="6" name="Text 4"/>
          <p:cNvSpPr/>
          <p:nvPr/>
        </p:nvSpPr>
        <p:spPr>
          <a:xfrm>
            <a:off x="786384"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Build the agent</a:t>
            </a:r>
            <a:endParaRPr lang="en-US" sz="1900" dirty="0"/>
          </a:p>
        </p:txBody>
      </p:sp>
      <p:sp>
        <p:nvSpPr>
          <p:cNvPr id="7" name="Text 5"/>
          <p:cNvSpPr/>
          <p:nvPr/>
        </p:nvSpPr>
        <p:spPr>
          <a:xfrm>
            <a:off x="786384"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Six delivery steps, each with an approval gate. Produces the engine, the rule pack and the web application.</a:t>
            </a:r>
            <a:endParaRPr lang="en-US" sz="1150" dirty="0"/>
          </a:p>
        </p:txBody>
      </p:sp>
      <p:sp>
        <p:nvSpPr>
          <p:cNvPr id="8" name="Shape 6"/>
          <p:cNvSpPr/>
          <p:nvPr/>
        </p:nvSpPr>
        <p:spPr>
          <a:xfrm>
            <a:off x="786384" y="3639312"/>
            <a:ext cx="3017520" cy="0"/>
          </a:xfrm>
          <a:prstGeom prst="line">
            <a:avLst/>
          </a:prstGeom>
          <a:noFill/>
          <a:ln w="12700">
            <a:solidFill>
              <a:srgbClr val="D4DAD2"/>
            </a:solidFill>
            <a:prstDash val="solid"/>
          </a:ln>
        </p:spPr>
      </p:sp>
      <p:sp>
        <p:nvSpPr>
          <p:cNvPr id="9" name="Text 7"/>
          <p:cNvSpPr/>
          <p:nvPr/>
        </p:nvSpPr>
        <p:spPr>
          <a:xfrm>
            <a:off x="786384"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10" name="Text 8"/>
          <p:cNvSpPr/>
          <p:nvPr/>
        </p:nvSpPr>
        <p:spPr>
          <a:xfrm>
            <a:off x="1591056"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Once, then change-controlled</a:t>
            </a:r>
            <a:endParaRPr lang="en-US" sz="1100" dirty="0"/>
          </a:p>
        </p:txBody>
      </p:sp>
      <p:sp>
        <p:nvSpPr>
          <p:cNvPr id="11" name="Text 9"/>
          <p:cNvSpPr/>
          <p:nvPr/>
        </p:nvSpPr>
        <p:spPr>
          <a:xfrm>
            <a:off x="786384"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12" name="Text 10"/>
          <p:cNvSpPr/>
          <p:nvPr/>
        </p:nvSpPr>
        <p:spPr>
          <a:xfrm>
            <a:off x="1591056"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Clinical programming + CDM</a:t>
            </a:r>
            <a:endParaRPr lang="en-US" sz="1100" dirty="0"/>
          </a:p>
        </p:txBody>
      </p:sp>
      <p:sp>
        <p:nvSpPr>
          <p:cNvPr id="13" name="Text 11"/>
          <p:cNvSpPr/>
          <p:nvPr/>
        </p:nvSpPr>
        <p:spPr>
          <a:xfrm>
            <a:off x="786384"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14" name="Text 12"/>
          <p:cNvSpPr/>
          <p:nvPr/>
        </p:nvSpPr>
        <p:spPr>
          <a:xfrm>
            <a:off x="1591056"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Software and a frozen rule pack</a:t>
            </a:r>
            <a:endParaRPr lang="en-US" sz="1100" dirty="0"/>
          </a:p>
        </p:txBody>
      </p:sp>
      <p:sp>
        <p:nvSpPr>
          <p:cNvPr id="15" name="Shape 13"/>
          <p:cNvSpPr/>
          <p:nvPr/>
        </p:nvSpPr>
        <p:spPr>
          <a:xfrm>
            <a:off x="4251960"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6" name="Text 14"/>
          <p:cNvSpPr/>
          <p:nvPr/>
        </p:nvSpPr>
        <p:spPr>
          <a:xfrm>
            <a:off x="4471416"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ONCE - PER STUDY</a:t>
            </a:r>
            <a:endParaRPr lang="en-US" sz="800" dirty="0"/>
          </a:p>
        </p:txBody>
      </p:sp>
      <p:sp>
        <p:nvSpPr>
          <p:cNvPr id="17" name="Text 15"/>
          <p:cNvSpPr/>
          <p:nvPr/>
        </p:nvSpPr>
        <p:spPr>
          <a:xfrm>
            <a:off x="4471416"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Configure for a trial</a:t>
            </a:r>
            <a:endParaRPr lang="en-US" sz="1900" dirty="0"/>
          </a:p>
        </p:txBody>
      </p:sp>
      <p:sp>
        <p:nvSpPr>
          <p:cNvPr id="18" name="Text 16"/>
          <p:cNvSpPr/>
          <p:nvPr/>
        </p:nvSpPr>
        <p:spPr>
          <a:xfrm>
            <a:off x="4471416"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The intake assistant reads the protocol, proposes every parameter the rules depend on, and waits for a human to confirm each one.</a:t>
            </a:r>
            <a:endParaRPr lang="en-US" sz="1150" dirty="0"/>
          </a:p>
        </p:txBody>
      </p:sp>
      <p:sp>
        <p:nvSpPr>
          <p:cNvPr id="19" name="Shape 17"/>
          <p:cNvSpPr/>
          <p:nvPr/>
        </p:nvSpPr>
        <p:spPr>
          <a:xfrm>
            <a:off x="4471416" y="3639312"/>
            <a:ext cx="3017520" cy="0"/>
          </a:xfrm>
          <a:prstGeom prst="line">
            <a:avLst/>
          </a:prstGeom>
          <a:noFill/>
          <a:ln w="12700">
            <a:solidFill>
              <a:srgbClr val="D4DAD2"/>
            </a:solidFill>
            <a:prstDash val="solid"/>
          </a:ln>
        </p:spPr>
      </p:sp>
      <p:sp>
        <p:nvSpPr>
          <p:cNvPr id="20" name="Text 18"/>
          <p:cNvSpPr/>
          <p:nvPr/>
        </p:nvSpPr>
        <p:spPr>
          <a:xfrm>
            <a:off x="4471416"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21" name="Text 19"/>
          <p:cNvSpPr/>
          <p:nvPr/>
        </p:nvSpPr>
        <p:spPr>
          <a:xfrm>
            <a:off x="5276088"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Before the first review run</a:t>
            </a:r>
            <a:endParaRPr lang="en-US" sz="1100" dirty="0"/>
          </a:p>
        </p:txBody>
      </p:sp>
      <p:sp>
        <p:nvSpPr>
          <p:cNvPr id="22" name="Text 20"/>
          <p:cNvSpPr/>
          <p:nvPr/>
        </p:nvSpPr>
        <p:spPr>
          <a:xfrm>
            <a:off x="4471416"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23" name="Text 21"/>
          <p:cNvSpPr/>
          <p:nvPr/>
        </p:nvSpPr>
        <p:spPr>
          <a:xfrm>
            <a:off x="5276088"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Study data manager + medical monitor</a:t>
            </a:r>
            <a:endParaRPr lang="en-US" sz="1100" dirty="0"/>
          </a:p>
        </p:txBody>
      </p:sp>
      <p:sp>
        <p:nvSpPr>
          <p:cNvPr id="24" name="Text 22"/>
          <p:cNvSpPr/>
          <p:nvPr/>
        </p:nvSpPr>
        <p:spPr>
          <a:xfrm>
            <a:off x="4471416"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25" name="Text 23"/>
          <p:cNvSpPr/>
          <p:nvPr/>
        </p:nvSpPr>
        <p:spPr>
          <a:xfrm>
            <a:off x="5276088"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A signed-off configuration</a:t>
            </a:r>
            <a:endParaRPr lang="en-US" sz="1100" dirty="0"/>
          </a:p>
        </p:txBody>
      </p:sp>
      <p:sp>
        <p:nvSpPr>
          <p:cNvPr id="26" name="Shape 24"/>
          <p:cNvSpPr/>
          <p:nvPr/>
        </p:nvSpPr>
        <p:spPr>
          <a:xfrm>
            <a:off x="7936992"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7" name="Text 25"/>
          <p:cNvSpPr/>
          <p:nvPr/>
        </p:nvSpPr>
        <p:spPr>
          <a:xfrm>
            <a:off x="8156448"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EVERY - DATA CUT</a:t>
            </a:r>
            <a:endParaRPr lang="en-US" sz="800" dirty="0"/>
          </a:p>
        </p:txBody>
      </p:sp>
      <p:sp>
        <p:nvSpPr>
          <p:cNvPr id="28" name="Text 26"/>
          <p:cNvSpPr/>
          <p:nvPr/>
        </p:nvSpPr>
        <p:spPr>
          <a:xfrm>
            <a:off x="8156448"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Review the data</a:t>
            </a:r>
            <a:endParaRPr lang="en-US" sz="1900" dirty="0"/>
          </a:p>
        </p:txBody>
      </p:sp>
      <p:sp>
        <p:nvSpPr>
          <p:cNvPr id="29" name="Text 27"/>
          <p:cNvSpPr/>
          <p:nvPr/>
        </p:nvSpPr>
        <p:spPr>
          <a:xfrm>
            <a:off x="8156448"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Ingest, derive, run the rules, reconcile against past queries, score confidence, write the narrative.</a:t>
            </a:r>
            <a:endParaRPr lang="en-US" sz="1150" dirty="0"/>
          </a:p>
        </p:txBody>
      </p:sp>
      <p:sp>
        <p:nvSpPr>
          <p:cNvPr id="30" name="Shape 28"/>
          <p:cNvSpPr/>
          <p:nvPr/>
        </p:nvSpPr>
        <p:spPr>
          <a:xfrm>
            <a:off x="8156448" y="3639312"/>
            <a:ext cx="3017520" cy="0"/>
          </a:xfrm>
          <a:prstGeom prst="line">
            <a:avLst/>
          </a:prstGeom>
          <a:noFill/>
          <a:ln w="12700">
            <a:solidFill>
              <a:srgbClr val="D4DAD2"/>
            </a:solidFill>
            <a:prstDash val="solid"/>
          </a:ln>
        </p:spPr>
      </p:sp>
      <p:sp>
        <p:nvSpPr>
          <p:cNvPr id="31" name="Text 29"/>
          <p:cNvSpPr/>
          <p:nvPr/>
        </p:nvSpPr>
        <p:spPr>
          <a:xfrm>
            <a:off x="8156448"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32" name="Text 30"/>
          <p:cNvSpPr/>
          <p:nvPr/>
        </p:nvSpPr>
        <p:spPr>
          <a:xfrm>
            <a:off x="8961120"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On demand, per data cut</a:t>
            </a:r>
            <a:endParaRPr lang="en-US" sz="1100" dirty="0"/>
          </a:p>
        </p:txBody>
      </p:sp>
      <p:sp>
        <p:nvSpPr>
          <p:cNvPr id="33" name="Text 31"/>
          <p:cNvSpPr/>
          <p:nvPr/>
        </p:nvSpPr>
        <p:spPr>
          <a:xfrm>
            <a:off x="8156448"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34" name="Text 32"/>
          <p:cNvSpPr/>
          <p:nvPr/>
        </p:nvSpPr>
        <p:spPr>
          <a:xfrm>
            <a:off x="8961120"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Whoever reviews that study</a:t>
            </a:r>
            <a:endParaRPr lang="en-US" sz="1100" dirty="0"/>
          </a:p>
        </p:txBody>
      </p:sp>
      <p:sp>
        <p:nvSpPr>
          <p:cNvPr id="35" name="Text 33"/>
          <p:cNvSpPr/>
          <p:nvPr/>
        </p:nvSpPr>
        <p:spPr>
          <a:xfrm>
            <a:off x="8156448"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36" name="Text 34"/>
          <p:cNvSpPr/>
          <p:nvPr/>
        </p:nvSpPr>
        <p:spPr>
          <a:xfrm>
            <a:off x="8961120"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Findings and draft query text</a:t>
            </a:r>
            <a:endParaRPr lang="en-US" sz="1100" dirty="0"/>
          </a:p>
        </p:txBody>
      </p:sp>
      <p:sp>
        <p:nvSpPr>
          <p:cNvPr id="37" name="Text 35"/>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8" name="Text 36"/>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THE RULE THAT EXPLAINS EVERYTHING ELSE</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Code computes. The model explains.</a:t>
            </a:r>
            <a:endParaRPr lang="en-US" sz="3200" dirty="0"/>
          </a:p>
        </p:txBody>
      </p:sp>
      <p:sp>
        <p:nvSpPr>
          <p:cNvPr id="4" name="Text 2"/>
          <p:cNvSpPr/>
          <p:nvPr/>
        </p:nvSpPr>
        <p:spPr>
          <a:xfrm>
            <a:off x="566928" y="1591056"/>
            <a:ext cx="10424160" cy="749808"/>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Every number and every verdict comes from ordinary deterministic code. This single split is why the same verdicts come out of a commercial API and a locally hosted model, and why validation stays tractable.</a:t>
            </a:r>
            <a:endParaRPr lang="en-US" sz="1400" dirty="0"/>
          </a:p>
        </p:txBody>
      </p:sp>
      <p:sp>
        <p:nvSpPr>
          <p:cNvPr id="5" name="Shape 3"/>
          <p:cNvSpPr/>
          <p:nvPr/>
        </p:nvSpPr>
        <p:spPr>
          <a:xfrm>
            <a:off x="566928" y="2395728"/>
            <a:ext cx="5257800" cy="2697480"/>
          </a:xfrm>
          <a:prstGeom prst="roundRect">
            <a:avLst>
              <a:gd name="adj" fmla="val 1695"/>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6" name="Text 4"/>
          <p:cNvSpPr/>
          <p:nvPr/>
        </p:nvSpPr>
        <p:spPr>
          <a:xfrm>
            <a:off x="841248" y="2633472"/>
            <a:ext cx="164592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DETERMINISTIC</a:t>
            </a:r>
            <a:endParaRPr lang="en-US" sz="900" dirty="0"/>
          </a:p>
        </p:txBody>
      </p:sp>
      <p:sp>
        <p:nvSpPr>
          <p:cNvPr id="7" name="Text 5"/>
          <p:cNvSpPr/>
          <p:nvPr/>
        </p:nvSpPr>
        <p:spPr>
          <a:xfrm>
            <a:off x="841248" y="3035808"/>
            <a:ext cx="4663440" cy="292608"/>
          </a:xfrm>
          <a:prstGeom prst="rect">
            <a:avLst/>
          </a:prstGeom>
          <a:noFill/>
          <a:ln/>
        </p:spPr>
        <p:txBody>
          <a:bodyPr wrap="square" lIns="0" tIns="0" rIns="0" bIns="0" rtlCol="0" anchor="ctr"/>
          <a:lstStyle/>
          <a:p>
            <a:pPr indent="0" marL="0">
              <a:buNone/>
            </a:pPr>
            <a:r>
              <a:rPr lang="en-US" sz="1700" b="1" dirty="0">
                <a:solidFill>
                  <a:srgbClr val="16201C"/>
                </a:solidFill>
                <a:latin typeface="Cambria" pitchFamily="34" charset="0"/>
                <a:ea typeface="Cambria" pitchFamily="34" charset="-122"/>
                <a:cs typeface="Cambria" pitchFamily="34" charset="-120"/>
              </a:rPr>
              <a:t>The model never...</a:t>
            </a:r>
            <a:endParaRPr lang="en-US" sz="1700" dirty="0"/>
          </a:p>
        </p:txBody>
      </p:sp>
      <p:sp>
        <p:nvSpPr>
          <p:cNvPr id="8" name="Text 6"/>
          <p:cNvSpPr/>
          <p:nvPr/>
        </p:nvSpPr>
        <p:spPr>
          <a:xfrm>
            <a:off x="896112" y="3419856"/>
            <a:ext cx="4617720" cy="1572768"/>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does arithmetic, percent change or nadir selection</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creates, deletes or overrides a finding</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decides a response category</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suppresses a critical finding</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sets the confidence rate directly</a:t>
            </a:r>
            <a:endParaRPr lang="en-US" sz="1200" dirty="0"/>
          </a:p>
        </p:txBody>
      </p:sp>
      <p:sp>
        <p:nvSpPr>
          <p:cNvPr id="9" name="Shape 7"/>
          <p:cNvSpPr/>
          <p:nvPr/>
        </p:nvSpPr>
        <p:spPr>
          <a:xfrm>
            <a:off x="6144768" y="2395728"/>
            <a:ext cx="5257800" cy="2697480"/>
          </a:xfrm>
          <a:prstGeom prst="roundRect">
            <a:avLst>
              <a:gd name="adj" fmla="val 1695"/>
            </a:avLst>
          </a:prstGeom>
          <a:solidFill>
            <a:srgbClr val="E3EDE7"/>
          </a:solidFill>
          <a:ln w="12700">
            <a:solidFill>
              <a:srgbClr val="1D4A3A"/>
            </a:solidFill>
            <a:prstDash val="solid"/>
          </a:ln>
          <a:effectLst>
            <a:outerShdw sx="100000" sy="100000" kx="0" ky="0" algn="bl" rotWithShape="0" blurRad="101600" dist="508" dir="5400000">
              <a:srgbClr val="16201C">
                <a:alpha val="10000"/>
              </a:srgbClr>
            </a:outerShdw>
          </a:effectLst>
        </p:spPr>
      </p:sp>
      <p:sp>
        <p:nvSpPr>
          <p:cNvPr id="10" name="Text 8"/>
          <p:cNvSpPr/>
          <p:nvPr/>
        </p:nvSpPr>
        <p:spPr>
          <a:xfrm>
            <a:off x="6419088" y="2633472"/>
            <a:ext cx="1600200" cy="256032"/>
          </a:xfrm>
          <a:prstGeom prst="roundRect">
            <a:avLst>
              <a:gd name="adj" fmla="val 14286"/>
            </a:avLst>
          </a:prstGeom>
          <a:solidFill>
            <a:srgbClr val="FFFFFF"/>
          </a:solidFill>
          <a:ln w="9525">
            <a:solidFill>
              <a:srgbClr val="1D4A3A"/>
            </a:solidFill>
            <a:prstDash val="dash"/>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LLM-ASSISTED</a:t>
            </a:r>
            <a:endParaRPr lang="en-US" sz="900" dirty="0"/>
          </a:p>
        </p:txBody>
      </p:sp>
      <p:sp>
        <p:nvSpPr>
          <p:cNvPr id="11" name="Text 9"/>
          <p:cNvSpPr/>
          <p:nvPr/>
        </p:nvSpPr>
        <p:spPr>
          <a:xfrm>
            <a:off x="6419088" y="3035808"/>
            <a:ext cx="4663440" cy="292608"/>
          </a:xfrm>
          <a:prstGeom prst="rect">
            <a:avLst/>
          </a:prstGeom>
          <a:noFill/>
          <a:ln/>
        </p:spPr>
        <p:txBody>
          <a:bodyPr wrap="square" lIns="0" tIns="0" rIns="0" bIns="0" rtlCol="0" anchor="ctr"/>
          <a:lstStyle/>
          <a:p>
            <a:pPr indent="0" marL="0">
              <a:buNone/>
            </a:pPr>
            <a:r>
              <a:rPr lang="en-US" sz="1700" b="1" dirty="0">
                <a:solidFill>
                  <a:srgbClr val="16201C"/>
                </a:solidFill>
                <a:latin typeface="Cambria" pitchFamily="34" charset="0"/>
                <a:ea typeface="Cambria" pitchFamily="34" charset="-122"/>
                <a:cs typeface="Cambria" pitchFamily="34" charset="-120"/>
              </a:rPr>
              <a:t>The model does...</a:t>
            </a:r>
            <a:endParaRPr lang="en-US" sz="1700" dirty="0"/>
          </a:p>
        </p:txBody>
      </p:sp>
      <p:sp>
        <p:nvSpPr>
          <p:cNvPr id="12" name="Text 10"/>
          <p:cNvSpPr/>
          <p:nvPr/>
        </p:nvSpPr>
        <p:spPr>
          <a:xfrm>
            <a:off x="6473952" y="3419856"/>
            <a:ext cx="4617720" cy="1572768"/>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write the reviewer-facing explanation from validated evidence</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draft the query in the sponsor's house style</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read free text - lesion descriptions, query answers</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judge where the guideline itself asks for judgement</a:t>
            </a:r>
            <a:endParaRPr lang="en-US" sz="1200" dirty="0"/>
          </a:p>
        </p:txBody>
      </p:sp>
      <p:sp>
        <p:nvSpPr>
          <p:cNvPr id="13" name="Text 11"/>
          <p:cNvSpPr/>
          <p:nvPr/>
        </p:nvSpPr>
        <p:spPr>
          <a:xfrm>
            <a:off x="566928" y="5285232"/>
            <a:ext cx="10835640" cy="502920"/>
          </a:xfrm>
          <a:prstGeom prst="rect">
            <a:avLst/>
          </a:prstGeom>
          <a:noFill/>
          <a:ln/>
        </p:spPr>
        <p:txBody>
          <a:bodyPr wrap="square" lIns="0" tIns="0" rIns="0" bIns="0" rtlCol="0" anchor="ctr"/>
          <a:lstStyle/>
          <a:p>
            <a:pPr indent="0" marL="0">
              <a:buNone/>
            </a:pPr>
            <a:r>
              <a:rPr lang="en-US" sz="1250" i="1" dirty="0">
                <a:solidFill>
                  <a:srgbClr val="1D4A3A"/>
                </a:solidFill>
                <a:latin typeface="Calibri" pitchFamily="34" charset="0"/>
                <a:ea typeface="Calibri" pitchFamily="34" charset="-122"/>
                <a:cs typeface="Calibri" pitchFamily="34" charset="-120"/>
              </a:rPr>
              <a:t>If the model is unavailable the run still completes. Every LLM task has a deterministic template fallback - the findings get plainer, never wrong.</a:t>
            </a:r>
            <a:endParaRPr lang="en-US" sz="1250" dirty="0"/>
          </a:p>
        </p:txBody>
      </p:sp>
      <p:sp>
        <p:nvSpPr>
          <p:cNvPr id="14" name="Text 12"/>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15" name="Text 13"/>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CLOCK ONE</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Building it</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Six steps, strictly sequential, because each one's output is the next one's input. The gates are the real schedule risk - not the build effort.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DEVELOPMENT PROCESS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Six steps and the gates between them</a:t>
            </a:r>
            <a:endParaRPr lang="en-US" sz="3200" dirty="0"/>
          </a:p>
        </p:txBody>
      </p:sp>
      <p:sp>
        <p:nvSpPr>
          <p:cNvPr id="4" name="Shape 2"/>
          <p:cNvSpPr/>
          <p:nvPr/>
        </p:nvSpPr>
        <p:spPr>
          <a:xfrm>
            <a:off x="566928" y="1828800"/>
            <a:ext cx="1700784" cy="1965960"/>
          </a:xfrm>
          <a:prstGeom prst="roundRect">
            <a:avLst>
              <a:gd name="adj" fmla="val 2688"/>
            </a:avLst>
          </a:prstGeom>
          <a:solidFill>
            <a:srgbClr val="1D4A3A"/>
          </a:solidFill>
          <a:ln w="12700">
            <a:solidFill>
              <a:srgbClr val="1D4A3A"/>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13232" y="1975104"/>
            <a:ext cx="1408176" cy="219456"/>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STEP 1</a:t>
            </a:r>
            <a:endParaRPr lang="en-US" sz="900" dirty="0"/>
          </a:p>
        </p:txBody>
      </p:sp>
      <p:sp>
        <p:nvSpPr>
          <p:cNvPr id="6" name="Text 4"/>
          <p:cNvSpPr/>
          <p:nvPr/>
        </p:nvSpPr>
        <p:spPr>
          <a:xfrm>
            <a:off x="713232" y="2249424"/>
            <a:ext cx="1408176" cy="54864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Development plan</a:t>
            </a:r>
            <a:endParaRPr lang="en-US" sz="1400" dirty="0"/>
          </a:p>
        </p:txBody>
      </p:sp>
      <p:sp>
        <p:nvSpPr>
          <p:cNvPr id="7" name="Text 5"/>
          <p:cNvSpPr/>
          <p:nvPr/>
        </p:nvSpPr>
        <p:spPr>
          <a:xfrm>
            <a:off x="713232" y="2889504"/>
            <a:ext cx="1408176" cy="274320"/>
          </a:xfrm>
          <a:prstGeom prst="rect">
            <a:avLst/>
          </a:prstGeom>
          <a:noFill/>
          <a:ln/>
        </p:spPr>
        <p:txBody>
          <a:bodyPr wrap="square" lIns="0" tIns="0" rIns="0" bIns="0" rtlCol="0" anchor="t"/>
          <a:lstStyle/>
          <a:p>
            <a:pPr indent="0" marL="0">
              <a:buNone/>
            </a:pPr>
            <a:r>
              <a:rPr lang="en-US" sz="1050" dirty="0">
                <a:solidFill>
                  <a:srgbClr val="E3EDE7"/>
                </a:solidFill>
                <a:latin typeface="Calibri" pitchFamily="34" charset="0"/>
                <a:ea typeface="Calibri" pitchFamily="34" charset="-122"/>
                <a:cs typeface="Calibri" pitchFamily="34" charset="-120"/>
              </a:rPr>
              <a:t>TEA-PLAN-001</a:t>
            </a:r>
            <a:endParaRPr lang="en-US" sz="1050" dirty="0"/>
          </a:p>
        </p:txBody>
      </p:sp>
      <p:sp>
        <p:nvSpPr>
          <p:cNvPr id="8" name="Text 6"/>
          <p:cNvSpPr/>
          <p:nvPr/>
        </p:nvSpPr>
        <p:spPr>
          <a:xfrm>
            <a:off x="7132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8FC4A9"/>
                </a:solidFill>
                <a:latin typeface="Calibri" pitchFamily="34" charset="0"/>
                <a:ea typeface="Calibri" pitchFamily="34" charset="-122"/>
                <a:cs typeface="Calibri" pitchFamily="34" charset="-120"/>
              </a:rPr>
              <a:t>Approved 17 Aug</a:t>
            </a:r>
            <a:endParaRPr lang="en-US" sz="1000" dirty="0"/>
          </a:p>
        </p:txBody>
      </p:sp>
      <p:sp>
        <p:nvSpPr>
          <p:cNvPr id="9" name="Shape 7"/>
          <p:cNvSpPr/>
          <p:nvPr/>
        </p:nvSpPr>
        <p:spPr>
          <a:xfrm>
            <a:off x="2263140" y="2743200"/>
            <a:ext cx="137160" cy="137160"/>
          </a:xfrm>
          <a:prstGeom prst="ellipse">
            <a:avLst/>
          </a:prstGeom>
          <a:solidFill>
            <a:srgbClr val="F7F8F5"/>
          </a:solidFill>
          <a:ln w="15875">
            <a:solidFill>
              <a:srgbClr val="1D4A3A"/>
            </a:solidFill>
            <a:prstDash val="solid"/>
          </a:ln>
        </p:spPr>
      </p:sp>
      <p:sp>
        <p:nvSpPr>
          <p:cNvPr id="10" name="Shape 8"/>
          <p:cNvSpPr/>
          <p:nvPr/>
        </p:nvSpPr>
        <p:spPr>
          <a:xfrm>
            <a:off x="2395728" y="1828800"/>
            <a:ext cx="1700784" cy="1965960"/>
          </a:xfrm>
          <a:prstGeom prst="roundRect">
            <a:avLst>
              <a:gd name="adj" fmla="val 2688"/>
            </a:avLst>
          </a:prstGeom>
          <a:solidFill>
            <a:srgbClr val="E3EDE7"/>
          </a:solidFill>
          <a:ln w="22225">
            <a:solidFill>
              <a:srgbClr val="1D4A3A"/>
            </a:solidFill>
            <a:prstDash val="solid"/>
          </a:ln>
          <a:effectLst>
            <a:outerShdw sx="100000" sy="100000" kx="0" ky="0" algn="bl" rotWithShape="0" blurRad="101600" dist="508" dir="5400000">
              <a:srgbClr val="16201C">
                <a:alpha val="10000"/>
              </a:srgbClr>
            </a:outerShdw>
          </a:effectLst>
        </p:spPr>
      </p:sp>
      <p:sp>
        <p:nvSpPr>
          <p:cNvPr id="11" name="Text 9"/>
          <p:cNvSpPr/>
          <p:nvPr/>
        </p:nvSpPr>
        <p:spPr>
          <a:xfrm>
            <a:off x="2542032" y="1975104"/>
            <a:ext cx="1408176" cy="219456"/>
          </a:xfrm>
          <a:prstGeom prst="rect">
            <a:avLst/>
          </a:prstGeom>
          <a:noFill/>
          <a:ln/>
        </p:spPr>
        <p:txBody>
          <a:bodyPr wrap="square" lIns="0" tIns="0" rIns="0" bIns="0" rtlCol="0" anchor="ctr"/>
          <a:lstStyle/>
          <a:p>
            <a:pPr indent="0" marL="0">
              <a:buNone/>
            </a:pPr>
            <a:r>
              <a:rPr lang="en-US" sz="900" b="1" dirty="0">
                <a:solidFill>
                  <a:srgbClr val="1D4A3A"/>
                </a:solidFill>
                <a:latin typeface="Courier New" pitchFamily="34" charset="0"/>
                <a:ea typeface="Courier New" pitchFamily="34" charset="-122"/>
                <a:cs typeface="Courier New" pitchFamily="34" charset="-120"/>
              </a:rPr>
              <a:t>STEP 2</a:t>
            </a:r>
            <a:endParaRPr lang="en-US" sz="900" dirty="0"/>
          </a:p>
        </p:txBody>
      </p:sp>
      <p:sp>
        <p:nvSpPr>
          <p:cNvPr id="12" name="Text 10"/>
          <p:cNvSpPr/>
          <p:nvPr/>
        </p:nvSpPr>
        <p:spPr>
          <a:xfrm>
            <a:off x="25420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Programming spec</a:t>
            </a:r>
            <a:endParaRPr lang="en-US" sz="1400" dirty="0"/>
          </a:p>
        </p:txBody>
      </p:sp>
      <p:sp>
        <p:nvSpPr>
          <p:cNvPr id="13" name="Text 11"/>
          <p:cNvSpPr/>
          <p:nvPr/>
        </p:nvSpPr>
        <p:spPr>
          <a:xfrm>
            <a:off x="25420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TEA-SPEC-001</a:t>
            </a:r>
            <a:endParaRPr lang="en-US" sz="1050" dirty="0"/>
          </a:p>
        </p:txBody>
      </p:sp>
      <p:sp>
        <p:nvSpPr>
          <p:cNvPr id="14" name="Text 12"/>
          <p:cNvSpPr/>
          <p:nvPr/>
        </p:nvSpPr>
        <p:spPr>
          <a:xfrm>
            <a:off x="25420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B06A1F"/>
                </a:solidFill>
                <a:latin typeface="Calibri" pitchFamily="34" charset="0"/>
                <a:ea typeface="Calibri" pitchFamily="34" charset="-122"/>
                <a:cs typeface="Calibri" pitchFamily="34" charset="-120"/>
              </a:rPr>
              <a:t>Rules done; wording next</a:t>
            </a:r>
            <a:endParaRPr lang="en-US" sz="1000" dirty="0"/>
          </a:p>
        </p:txBody>
      </p:sp>
      <p:sp>
        <p:nvSpPr>
          <p:cNvPr id="15" name="Shape 13"/>
          <p:cNvSpPr/>
          <p:nvPr/>
        </p:nvSpPr>
        <p:spPr>
          <a:xfrm>
            <a:off x="4091940" y="2743200"/>
            <a:ext cx="137160" cy="137160"/>
          </a:xfrm>
          <a:prstGeom prst="ellipse">
            <a:avLst/>
          </a:prstGeom>
          <a:solidFill>
            <a:srgbClr val="F7F8F5"/>
          </a:solidFill>
          <a:ln w="15875">
            <a:solidFill>
              <a:srgbClr val="1D4A3A"/>
            </a:solidFill>
            <a:prstDash val="solid"/>
          </a:ln>
        </p:spPr>
      </p:sp>
      <p:sp>
        <p:nvSpPr>
          <p:cNvPr id="16" name="Shape 14"/>
          <p:cNvSpPr/>
          <p:nvPr/>
        </p:nvSpPr>
        <p:spPr>
          <a:xfrm>
            <a:off x="42245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7" name="Text 15"/>
          <p:cNvSpPr/>
          <p:nvPr/>
        </p:nvSpPr>
        <p:spPr>
          <a:xfrm>
            <a:off x="43708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3</a:t>
            </a:r>
            <a:endParaRPr lang="en-US" sz="900" dirty="0"/>
          </a:p>
        </p:txBody>
      </p:sp>
      <p:sp>
        <p:nvSpPr>
          <p:cNvPr id="18" name="Text 16"/>
          <p:cNvSpPr/>
          <p:nvPr/>
        </p:nvSpPr>
        <p:spPr>
          <a:xfrm>
            <a:off x="43708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Prototype output</a:t>
            </a:r>
            <a:endParaRPr lang="en-US" sz="1400" dirty="0"/>
          </a:p>
        </p:txBody>
      </p:sp>
      <p:sp>
        <p:nvSpPr>
          <p:cNvPr id="19" name="Text 17"/>
          <p:cNvSpPr/>
          <p:nvPr/>
        </p:nvSpPr>
        <p:spPr>
          <a:xfrm>
            <a:off x="43708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Dummy dataset</a:t>
            </a:r>
            <a:endParaRPr lang="en-US" sz="1050" dirty="0"/>
          </a:p>
        </p:txBody>
      </p:sp>
      <p:sp>
        <p:nvSpPr>
          <p:cNvPr id="20" name="Text 18"/>
          <p:cNvSpPr/>
          <p:nvPr/>
        </p:nvSpPr>
        <p:spPr>
          <a:xfrm>
            <a:off x="43708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Findings read by humans</a:t>
            </a:r>
            <a:endParaRPr lang="en-US" sz="1000" dirty="0"/>
          </a:p>
        </p:txBody>
      </p:sp>
      <p:sp>
        <p:nvSpPr>
          <p:cNvPr id="21" name="Shape 19"/>
          <p:cNvSpPr/>
          <p:nvPr/>
        </p:nvSpPr>
        <p:spPr>
          <a:xfrm>
            <a:off x="5920740" y="2743200"/>
            <a:ext cx="137160" cy="137160"/>
          </a:xfrm>
          <a:prstGeom prst="ellipse">
            <a:avLst/>
          </a:prstGeom>
          <a:solidFill>
            <a:srgbClr val="F7F8F5"/>
          </a:solidFill>
          <a:ln w="15875">
            <a:solidFill>
              <a:srgbClr val="1D4A3A"/>
            </a:solidFill>
            <a:prstDash val="solid"/>
          </a:ln>
        </p:spPr>
      </p:sp>
      <p:sp>
        <p:nvSpPr>
          <p:cNvPr id="22" name="Shape 20"/>
          <p:cNvSpPr/>
          <p:nvPr/>
        </p:nvSpPr>
        <p:spPr>
          <a:xfrm>
            <a:off x="60533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3" name="Text 21"/>
          <p:cNvSpPr/>
          <p:nvPr/>
        </p:nvSpPr>
        <p:spPr>
          <a:xfrm>
            <a:off x="61996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4</a:t>
            </a:r>
            <a:endParaRPr lang="en-US" sz="900" dirty="0"/>
          </a:p>
        </p:txBody>
      </p:sp>
      <p:sp>
        <p:nvSpPr>
          <p:cNvPr id="24" name="Text 22"/>
          <p:cNvSpPr/>
          <p:nvPr/>
        </p:nvSpPr>
        <p:spPr>
          <a:xfrm>
            <a:off x="61996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UI design</a:t>
            </a:r>
            <a:endParaRPr lang="en-US" sz="1400" dirty="0"/>
          </a:p>
        </p:txBody>
      </p:sp>
      <p:sp>
        <p:nvSpPr>
          <p:cNvPr id="25" name="Text 23"/>
          <p:cNvSpPr/>
          <p:nvPr/>
        </p:nvSpPr>
        <p:spPr>
          <a:xfrm>
            <a:off x="61996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8 screens</a:t>
            </a:r>
            <a:endParaRPr lang="en-US" sz="1050" dirty="0"/>
          </a:p>
        </p:txBody>
      </p:sp>
      <p:sp>
        <p:nvSpPr>
          <p:cNvPr id="26" name="Text 24"/>
          <p:cNvSpPr/>
          <p:nvPr/>
        </p:nvSpPr>
        <p:spPr>
          <a:xfrm>
            <a:off x="61996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No code before approval</a:t>
            </a:r>
            <a:endParaRPr lang="en-US" sz="1000" dirty="0"/>
          </a:p>
        </p:txBody>
      </p:sp>
      <p:sp>
        <p:nvSpPr>
          <p:cNvPr id="27" name="Shape 25"/>
          <p:cNvSpPr/>
          <p:nvPr/>
        </p:nvSpPr>
        <p:spPr>
          <a:xfrm>
            <a:off x="7749540" y="2743200"/>
            <a:ext cx="137160" cy="137160"/>
          </a:xfrm>
          <a:prstGeom prst="ellipse">
            <a:avLst/>
          </a:prstGeom>
          <a:solidFill>
            <a:srgbClr val="F7F8F5"/>
          </a:solidFill>
          <a:ln w="15875">
            <a:solidFill>
              <a:srgbClr val="1D4A3A"/>
            </a:solidFill>
            <a:prstDash val="solid"/>
          </a:ln>
        </p:spPr>
      </p:sp>
      <p:sp>
        <p:nvSpPr>
          <p:cNvPr id="28" name="Shape 26"/>
          <p:cNvSpPr/>
          <p:nvPr/>
        </p:nvSpPr>
        <p:spPr>
          <a:xfrm>
            <a:off x="78821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9" name="Text 27"/>
          <p:cNvSpPr/>
          <p:nvPr/>
        </p:nvSpPr>
        <p:spPr>
          <a:xfrm>
            <a:off x="80284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5</a:t>
            </a:r>
            <a:endParaRPr lang="en-US" sz="900" dirty="0"/>
          </a:p>
        </p:txBody>
      </p:sp>
      <p:sp>
        <p:nvSpPr>
          <p:cNvPr id="30" name="Text 28"/>
          <p:cNvSpPr/>
          <p:nvPr/>
        </p:nvSpPr>
        <p:spPr>
          <a:xfrm>
            <a:off x="80284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Code generation</a:t>
            </a:r>
            <a:endParaRPr lang="en-US" sz="1400" dirty="0"/>
          </a:p>
        </p:txBody>
      </p:sp>
      <p:sp>
        <p:nvSpPr>
          <p:cNvPr id="31" name="Text 29"/>
          <p:cNvSpPr/>
          <p:nvPr/>
        </p:nvSpPr>
        <p:spPr>
          <a:xfrm>
            <a:off x="80284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Engine, rules, app</a:t>
            </a:r>
            <a:endParaRPr lang="en-US" sz="1050" dirty="0"/>
          </a:p>
        </p:txBody>
      </p:sp>
      <p:sp>
        <p:nvSpPr>
          <p:cNvPr id="32" name="Text 30"/>
          <p:cNvSpPr/>
          <p:nvPr/>
        </p:nvSpPr>
        <p:spPr>
          <a:xfrm>
            <a:off x="80284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Validation package</a:t>
            </a:r>
            <a:endParaRPr lang="en-US" sz="1000" dirty="0"/>
          </a:p>
        </p:txBody>
      </p:sp>
      <p:sp>
        <p:nvSpPr>
          <p:cNvPr id="33" name="Shape 31"/>
          <p:cNvSpPr/>
          <p:nvPr/>
        </p:nvSpPr>
        <p:spPr>
          <a:xfrm>
            <a:off x="9578340" y="2743200"/>
            <a:ext cx="137160" cy="137160"/>
          </a:xfrm>
          <a:prstGeom prst="ellipse">
            <a:avLst/>
          </a:prstGeom>
          <a:solidFill>
            <a:srgbClr val="F7F8F5"/>
          </a:solidFill>
          <a:ln w="15875">
            <a:solidFill>
              <a:srgbClr val="1D4A3A"/>
            </a:solidFill>
            <a:prstDash val="solid"/>
          </a:ln>
        </p:spPr>
      </p:sp>
      <p:sp>
        <p:nvSpPr>
          <p:cNvPr id="34" name="Shape 32"/>
          <p:cNvSpPr/>
          <p:nvPr/>
        </p:nvSpPr>
        <p:spPr>
          <a:xfrm>
            <a:off x="97109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35" name="Text 33"/>
          <p:cNvSpPr/>
          <p:nvPr/>
        </p:nvSpPr>
        <p:spPr>
          <a:xfrm>
            <a:off x="98572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6</a:t>
            </a:r>
            <a:endParaRPr lang="en-US" sz="900" dirty="0"/>
          </a:p>
        </p:txBody>
      </p:sp>
      <p:sp>
        <p:nvSpPr>
          <p:cNvPr id="36" name="Text 34"/>
          <p:cNvSpPr/>
          <p:nvPr/>
        </p:nvSpPr>
        <p:spPr>
          <a:xfrm>
            <a:off x="98572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Finalisation</a:t>
            </a:r>
            <a:endParaRPr lang="en-US" sz="1400" dirty="0"/>
          </a:p>
        </p:txBody>
      </p:sp>
      <p:sp>
        <p:nvSpPr>
          <p:cNvPr id="37" name="Text 35"/>
          <p:cNvSpPr/>
          <p:nvPr/>
        </p:nvSpPr>
        <p:spPr>
          <a:xfrm>
            <a:off x="98572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UAT on a real study</a:t>
            </a:r>
            <a:endParaRPr lang="en-US" sz="1050" dirty="0"/>
          </a:p>
        </p:txBody>
      </p:sp>
      <p:sp>
        <p:nvSpPr>
          <p:cNvPr id="38" name="Text 36"/>
          <p:cNvSpPr/>
          <p:nvPr/>
        </p:nvSpPr>
        <p:spPr>
          <a:xfrm>
            <a:off x="98572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Release 1.0.0</a:t>
            </a:r>
            <a:endParaRPr lang="en-US" sz="1000" dirty="0"/>
          </a:p>
        </p:txBody>
      </p:sp>
      <p:sp>
        <p:nvSpPr>
          <p:cNvPr id="39" name="Text 37"/>
          <p:cNvSpPr/>
          <p:nvPr/>
        </p:nvSpPr>
        <p:spPr>
          <a:xfrm>
            <a:off x="15544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CDM + MM</a:t>
            </a:r>
            <a:endParaRPr lang="en-US" sz="750" dirty="0"/>
          </a:p>
        </p:txBody>
      </p:sp>
      <p:sp>
        <p:nvSpPr>
          <p:cNvPr id="40" name="Text 38"/>
          <p:cNvSpPr/>
          <p:nvPr/>
        </p:nvSpPr>
        <p:spPr>
          <a:xfrm>
            <a:off x="33832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rule pack frozen</a:t>
            </a:r>
            <a:endParaRPr lang="en-US" sz="750" dirty="0"/>
          </a:p>
        </p:txBody>
      </p:sp>
      <p:sp>
        <p:nvSpPr>
          <p:cNvPr id="41" name="Text 39"/>
          <p:cNvSpPr/>
          <p:nvPr/>
        </p:nvSpPr>
        <p:spPr>
          <a:xfrm>
            <a:off x="52120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output accepted</a:t>
            </a:r>
            <a:endParaRPr lang="en-US" sz="750" dirty="0"/>
          </a:p>
        </p:txBody>
      </p:sp>
      <p:sp>
        <p:nvSpPr>
          <p:cNvPr id="42" name="Text 40"/>
          <p:cNvSpPr/>
          <p:nvPr/>
        </p:nvSpPr>
        <p:spPr>
          <a:xfrm>
            <a:off x="70408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design approved</a:t>
            </a:r>
            <a:endParaRPr lang="en-US" sz="750" dirty="0"/>
          </a:p>
        </p:txBody>
      </p:sp>
      <p:sp>
        <p:nvSpPr>
          <p:cNvPr id="43" name="Text 41"/>
          <p:cNvSpPr/>
          <p:nvPr/>
        </p:nvSpPr>
        <p:spPr>
          <a:xfrm>
            <a:off x="88696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tests green</a:t>
            </a:r>
            <a:endParaRPr lang="en-US" sz="750" dirty="0"/>
          </a:p>
        </p:txBody>
      </p:sp>
      <p:sp>
        <p:nvSpPr>
          <p:cNvPr id="44" name="Text 42"/>
          <p:cNvSpPr/>
          <p:nvPr/>
        </p:nvSpPr>
        <p:spPr>
          <a:xfrm>
            <a:off x="566928" y="4892040"/>
            <a:ext cx="10835640" cy="457200"/>
          </a:xfrm>
          <a:prstGeom prst="rect">
            <a:avLst/>
          </a:prstGeom>
          <a:noFill/>
          <a:ln/>
        </p:spPr>
        <p:txBody>
          <a:bodyPr wrap="square" lIns="0" tIns="0" rIns="0" bIns="0" rtlCol="0" anchor="ctr"/>
          <a:lstStyle/>
          <a:p>
            <a:pPr indent="0" marL="0">
              <a:buNone/>
            </a:pPr>
            <a:r>
              <a:rPr lang="en-US" sz="1300" i="1" dirty="0">
                <a:solidFill>
                  <a:srgbClr val="1D4A3A"/>
                </a:solidFill>
                <a:latin typeface="Calibri" pitchFamily="34" charset="0"/>
                <a:ea typeface="Calibri" pitchFamily="34" charset="-122"/>
                <a:cs typeface="Calibri" pitchFamily="34" charset="-120"/>
              </a:rPr>
              <a:t>The rule pack freezes at the Step 2 gate. That makes the specification review the most consequential meeting in the schedule.</a:t>
            </a:r>
            <a:endParaRPr lang="en-US" sz="1300" dirty="0"/>
          </a:p>
        </p:txBody>
      </p:sp>
      <p:sp>
        <p:nvSpPr>
          <p:cNvPr id="45" name="Text 43"/>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46" name="Text 44"/>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CLOCKS TWO AND THREE</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Inside one review run</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Eleven components in a fixed order. Four phases, from reading the protocol once per study to recording what the reviewer decided.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PROCESS FLOW</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Eleven components, four phases</a:t>
            </a:r>
            <a:endParaRPr lang="en-US" sz="3200" dirty="0"/>
          </a:p>
        </p:txBody>
      </p:sp>
      <p:sp>
        <p:nvSpPr>
          <p:cNvPr id="4" name="Shape 2"/>
          <p:cNvSpPr/>
          <p:nvPr/>
        </p:nvSpPr>
        <p:spPr>
          <a:xfrm>
            <a:off x="566928" y="1783080"/>
            <a:ext cx="2148840" cy="2670048"/>
          </a:xfrm>
          <a:prstGeom prst="roundRect">
            <a:avLst>
              <a:gd name="adj" fmla="val 212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49808" y="1947672"/>
            <a:ext cx="17830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SET UP</a:t>
            </a:r>
            <a:endParaRPr lang="en-US" sz="1600" dirty="0"/>
          </a:p>
        </p:txBody>
      </p:sp>
      <p:sp>
        <p:nvSpPr>
          <p:cNvPr id="6" name="Text 4"/>
          <p:cNvSpPr/>
          <p:nvPr/>
        </p:nvSpPr>
        <p:spPr>
          <a:xfrm>
            <a:off x="749808" y="2240280"/>
            <a:ext cx="17830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Once per study</a:t>
            </a:r>
            <a:endParaRPr lang="en-US" sz="800" dirty="0"/>
          </a:p>
        </p:txBody>
      </p:sp>
      <p:sp>
        <p:nvSpPr>
          <p:cNvPr id="7" name="Text 5"/>
          <p:cNvSpPr/>
          <p:nvPr/>
        </p:nvSpPr>
        <p:spPr>
          <a:xfrm>
            <a:off x="749808" y="2551176"/>
            <a:ext cx="178308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AC-11  Protocol intake</a:t>
            </a:r>
            <a:endParaRPr lang="en-US" sz="800" dirty="0"/>
          </a:p>
        </p:txBody>
      </p:sp>
      <p:sp>
        <p:nvSpPr>
          <p:cNvPr id="8" name="Text 6"/>
          <p:cNvSpPr/>
          <p:nvPr/>
        </p:nvSpPr>
        <p:spPr>
          <a:xfrm>
            <a:off x="749808" y="3008376"/>
            <a:ext cx="1783080" cy="1280160"/>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Summarises every parameter the rules depend on, for a human to confirm.</a:t>
            </a:r>
            <a:endParaRPr lang="en-US" sz="1050" dirty="0"/>
          </a:p>
        </p:txBody>
      </p:sp>
      <p:sp>
        <p:nvSpPr>
          <p:cNvPr id="9" name="Shape 7"/>
          <p:cNvSpPr/>
          <p:nvPr/>
        </p:nvSpPr>
        <p:spPr>
          <a:xfrm>
            <a:off x="2734056" y="3154680"/>
            <a:ext cx="109728" cy="182880"/>
          </a:xfrm>
          <a:prstGeom prst="rightArrow">
            <a:avLst/>
          </a:prstGeom>
          <a:solidFill>
            <a:srgbClr val="1D4A3A"/>
          </a:solidFill>
          <a:ln w="12700">
            <a:solidFill>
              <a:srgbClr val="1D4A3A"/>
            </a:solidFill>
            <a:prstDash val="solid"/>
          </a:ln>
        </p:spPr>
      </p:sp>
      <p:sp>
        <p:nvSpPr>
          <p:cNvPr id="10" name="Shape 8"/>
          <p:cNvSpPr/>
          <p:nvPr/>
        </p:nvSpPr>
        <p:spPr>
          <a:xfrm>
            <a:off x="2862072" y="1783080"/>
            <a:ext cx="2697480" cy="2670048"/>
          </a:xfrm>
          <a:prstGeom prst="roundRect">
            <a:avLst>
              <a:gd name="adj" fmla="val 1712"/>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1" name="Text 9"/>
          <p:cNvSpPr/>
          <p:nvPr/>
        </p:nvSpPr>
        <p:spPr>
          <a:xfrm>
            <a:off x="3044952" y="1947672"/>
            <a:ext cx="233172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DERIVE</a:t>
            </a:r>
            <a:endParaRPr lang="en-US" sz="1600" dirty="0"/>
          </a:p>
        </p:txBody>
      </p:sp>
      <p:sp>
        <p:nvSpPr>
          <p:cNvPr id="12" name="Text 10"/>
          <p:cNvSpPr/>
          <p:nvPr/>
        </p:nvSpPr>
        <p:spPr>
          <a:xfrm>
            <a:off x="3044952" y="2240280"/>
            <a:ext cx="233172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13" name="Text 11"/>
          <p:cNvSpPr/>
          <p:nvPr/>
        </p:nvSpPr>
        <p:spPr>
          <a:xfrm>
            <a:off x="3044952" y="2551176"/>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AC-01  Ingestion</a:t>
            </a:r>
            <a:endParaRPr lang="en-US" sz="800" dirty="0"/>
          </a:p>
        </p:txBody>
      </p:sp>
      <p:sp>
        <p:nvSpPr>
          <p:cNvPr id="14" name="Text 12"/>
          <p:cNvSpPr/>
          <p:nvPr/>
        </p:nvSpPr>
        <p:spPr>
          <a:xfrm>
            <a:off x="3044952" y="2935224"/>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AC-02  Config resolve</a:t>
            </a:r>
            <a:endParaRPr lang="en-US" sz="800" dirty="0"/>
          </a:p>
        </p:txBody>
      </p:sp>
      <p:sp>
        <p:nvSpPr>
          <p:cNvPr id="15" name="Text 13"/>
          <p:cNvSpPr/>
          <p:nvPr/>
        </p:nvSpPr>
        <p:spPr>
          <a:xfrm>
            <a:off x="3044952" y="3319272"/>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AC-03  Derivations</a:t>
            </a:r>
            <a:endParaRPr lang="en-US" sz="800" dirty="0"/>
          </a:p>
        </p:txBody>
      </p:sp>
      <p:sp>
        <p:nvSpPr>
          <p:cNvPr id="16" name="Text 14"/>
          <p:cNvSpPr/>
          <p:nvPr/>
        </p:nvSpPr>
        <p:spPr>
          <a:xfrm>
            <a:off x="3044952" y="3776472"/>
            <a:ext cx="2331720" cy="512064"/>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Maps the export to the canonical model, then computes the arithmetic every rule depends on.</a:t>
            </a:r>
            <a:endParaRPr lang="en-US" sz="1050" dirty="0"/>
          </a:p>
        </p:txBody>
      </p:sp>
      <p:sp>
        <p:nvSpPr>
          <p:cNvPr id="17" name="Shape 15"/>
          <p:cNvSpPr/>
          <p:nvPr/>
        </p:nvSpPr>
        <p:spPr>
          <a:xfrm>
            <a:off x="5577840" y="3154680"/>
            <a:ext cx="109728" cy="182880"/>
          </a:xfrm>
          <a:prstGeom prst="rightArrow">
            <a:avLst/>
          </a:prstGeom>
          <a:solidFill>
            <a:srgbClr val="1D4A3A"/>
          </a:solidFill>
          <a:ln w="12700">
            <a:solidFill>
              <a:srgbClr val="1D4A3A"/>
            </a:solidFill>
            <a:prstDash val="solid"/>
          </a:ln>
        </p:spPr>
      </p:sp>
      <p:sp>
        <p:nvSpPr>
          <p:cNvPr id="18" name="Shape 16"/>
          <p:cNvSpPr/>
          <p:nvPr/>
        </p:nvSpPr>
        <p:spPr>
          <a:xfrm>
            <a:off x="5705856" y="1783080"/>
            <a:ext cx="2148840" cy="2670048"/>
          </a:xfrm>
          <a:prstGeom prst="roundRect">
            <a:avLst>
              <a:gd name="adj" fmla="val 212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9" name="Text 17"/>
          <p:cNvSpPr/>
          <p:nvPr/>
        </p:nvSpPr>
        <p:spPr>
          <a:xfrm>
            <a:off x="5888736" y="1947672"/>
            <a:ext cx="17830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DETECT</a:t>
            </a:r>
            <a:endParaRPr lang="en-US" sz="1600" dirty="0"/>
          </a:p>
        </p:txBody>
      </p:sp>
      <p:sp>
        <p:nvSpPr>
          <p:cNvPr id="20" name="Text 18"/>
          <p:cNvSpPr/>
          <p:nvPr/>
        </p:nvSpPr>
        <p:spPr>
          <a:xfrm>
            <a:off x="5888736" y="2240280"/>
            <a:ext cx="17830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21" name="Text 19"/>
          <p:cNvSpPr/>
          <p:nvPr/>
        </p:nvSpPr>
        <p:spPr>
          <a:xfrm>
            <a:off x="5888736" y="2551176"/>
            <a:ext cx="178308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AC-04  Rule engine</a:t>
            </a:r>
            <a:endParaRPr lang="en-US" sz="800" dirty="0"/>
          </a:p>
        </p:txBody>
      </p:sp>
      <p:sp>
        <p:nvSpPr>
          <p:cNvPr id="22" name="Text 20"/>
          <p:cNvSpPr/>
          <p:nvPr/>
        </p:nvSpPr>
        <p:spPr>
          <a:xfrm>
            <a:off x="5888736" y="2935224"/>
            <a:ext cx="178308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AC-05  Adjudicator</a:t>
            </a:r>
            <a:endParaRPr lang="en-US" sz="800" dirty="0"/>
          </a:p>
        </p:txBody>
      </p:sp>
      <p:sp>
        <p:nvSpPr>
          <p:cNvPr id="23" name="Text 21"/>
          <p:cNvSpPr/>
          <p:nvPr/>
        </p:nvSpPr>
        <p:spPr>
          <a:xfrm>
            <a:off x="5888736" y="3392424"/>
            <a:ext cx="1783080" cy="896112"/>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Runs the 83 live review points. The model only judges where the guideline asks for judgement.</a:t>
            </a:r>
            <a:endParaRPr lang="en-US" sz="1050" dirty="0"/>
          </a:p>
        </p:txBody>
      </p:sp>
      <p:sp>
        <p:nvSpPr>
          <p:cNvPr id="24" name="Shape 22"/>
          <p:cNvSpPr/>
          <p:nvPr/>
        </p:nvSpPr>
        <p:spPr>
          <a:xfrm>
            <a:off x="7872984" y="3154680"/>
            <a:ext cx="109728" cy="182880"/>
          </a:xfrm>
          <a:prstGeom prst="rightArrow">
            <a:avLst/>
          </a:prstGeom>
          <a:solidFill>
            <a:srgbClr val="1D4A3A"/>
          </a:solidFill>
          <a:ln w="12700">
            <a:solidFill>
              <a:srgbClr val="1D4A3A"/>
            </a:solidFill>
            <a:prstDash val="solid"/>
          </a:ln>
        </p:spPr>
      </p:sp>
      <p:sp>
        <p:nvSpPr>
          <p:cNvPr id="25" name="Shape 23"/>
          <p:cNvSpPr/>
          <p:nvPr/>
        </p:nvSpPr>
        <p:spPr>
          <a:xfrm>
            <a:off x="8001000" y="1783080"/>
            <a:ext cx="3520440" cy="2670048"/>
          </a:xfrm>
          <a:prstGeom prst="roundRect">
            <a:avLst>
              <a:gd name="adj" fmla="val 1712"/>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6" name="Text 24"/>
          <p:cNvSpPr/>
          <p:nvPr/>
        </p:nvSpPr>
        <p:spPr>
          <a:xfrm>
            <a:off x="8183880" y="1947672"/>
            <a:ext cx="31546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ASSEMBLE</a:t>
            </a:r>
            <a:endParaRPr lang="en-US" sz="1600" dirty="0"/>
          </a:p>
        </p:txBody>
      </p:sp>
      <p:sp>
        <p:nvSpPr>
          <p:cNvPr id="27" name="Text 25"/>
          <p:cNvSpPr/>
          <p:nvPr/>
        </p:nvSpPr>
        <p:spPr>
          <a:xfrm>
            <a:off x="8183880" y="2240280"/>
            <a:ext cx="31546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28" name="Text 26"/>
          <p:cNvSpPr/>
          <p:nvPr/>
        </p:nvSpPr>
        <p:spPr>
          <a:xfrm>
            <a:off x="8183880" y="2551176"/>
            <a:ext cx="1531620" cy="310896"/>
          </a:xfrm>
          <a:prstGeom prst="roundRect">
            <a:avLst>
              <a:gd name="adj" fmla="val 11765"/>
            </a:avLst>
          </a:prstGeom>
          <a:solidFill>
            <a:srgbClr val="E3EDE7"/>
          </a:solidFill>
          <a:ln w="12700">
            <a:solidFill>
              <a:srgbClr val="1D4A3A"/>
            </a:solidFill>
            <a:prstDash val="sys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AC-06  Query reconcile</a:t>
            </a:r>
            <a:endParaRPr lang="en-US" sz="800" dirty="0"/>
          </a:p>
        </p:txBody>
      </p:sp>
      <p:sp>
        <p:nvSpPr>
          <p:cNvPr id="29" name="Text 27"/>
          <p:cNvSpPr/>
          <p:nvPr/>
        </p:nvSpPr>
        <p:spPr>
          <a:xfrm>
            <a:off x="9806940" y="2551176"/>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AC-07  Confidence</a:t>
            </a:r>
            <a:endParaRPr lang="en-US" sz="800" dirty="0"/>
          </a:p>
        </p:txBody>
      </p:sp>
      <p:sp>
        <p:nvSpPr>
          <p:cNvPr id="30" name="Text 28"/>
          <p:cNvSpPr/>
          <p:nvPr/>
        </p:nvSpPr>
        <p:spPr>
          <a:xfrm>
            <a:off x="8183880" y="2935224"/>
            <a:ext cx="153162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AC-08  Narrative</a:t>
            </a:r>
            <a:endParaRPr lang="en-US" sz="800" dirty="0"/>
          </a:p>
        </p:txBody>
      </p:sp>
      <p:sp>
        <p:nvSpPr>
          <p:cNvPr id="31" name="Text 29"/>
          <p:cNvSpPr/>
          <p:nvPr/>
        </p:nvSpPr>
        <p:spPr>
          <a:xfrm>
            <a:off x="9806940" y="2935224"/>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AC-09  Reporting</a:t>
            </a:r>
            <a:endParaRPr lang="en-US" sz="800" dirty="0"/>
          </a:p>
        </p:txBody>
      </p:sp>
      <p:sp>
        <p:nvSpPr>
          <p:cNvPr id="32" name="Text 30"/>
          <p:cNvSpPr/>
          <p:nvPr/>
        </p:nvSpPr>
        <p:spPr>
          <a:xfrm>
            <a:off x="8183880" y="3319272"/>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AC-10  Feedback</a:t>
            </a:r>
            <a:endParaRPr lang="en-US" sz="800" dirty="0"/>
          </a:p>
        </p:txBody>
      </p:sp>
      <p:sp>
        <p:nvSpPr>
          <p:cNvPr id="33" name="Text 31"/>
          <p:cNvSpPr/>
          <p:nvPr/>
        </p:nvSpPr>
        <p:spPr>
          <a:xfrm>
            <a:off x="8183880" y="3776472"/>
            <a:ext cx="3154680" cy="512064"/>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Where hundreds of raw findings become a ranked worklist a person can actually work through.</a:t>
            </a:r>
            <a:endParaRPr lang="en-US" sz="1050" dirty="0"/>
          </a:p>
        </p:txBody>
      </p:sp>
      <p:sp>
        <p:nvSpPr>
          <p:cNvPr id="34" name="Text 32"/>
          <p:cNvSpPr/>
          <p:nvPr/>
        </p:nvSpPr>
        <p:spPr>
          <a:xfrm>
            <a:off x="566928" y="4617720"/>
            <a:ext cx="10835640" cy="274320"/>
          </a:xfrm>
          <a:prstGeom prst="rect">
            <a:avLst/>
          </a:prstGeom>
          <a:noFill/>
          <a:ln/>
        </p:spPr>
        <p:txBody>
          <a:bodyPr wrap="square" lIns="0" tIns="0" rIns="0" bIns="0" rtlCol="0" anchor="ctr"/>
          <a:lstStyle/>
          <a:p>
            <a:pPr indent="0" marL="0">
              <a:buNone/>
            </a:pPr>
            <a:r>
              <a:rPr lang="en-US" sz="1150" dirty="0">
                <a:solidFill>
                  <a:srgbClr val="5C665F"/>
                </a:solidFill>
                <a:latin typeface="Calibri" pitchFamily="34" charset="0"/>
                <a:ea typeface="Calibri" pitchFamily="34" charset="-122"/>
                <a:cs typeface="Calibri" pitchFamily="34" charset="-120"/>
              </a:rPr>
              <a:t>Plain outline = deterministic code   ·   Tinted + dashed = LLM-assisted   ·   Mixed dash = hybrid</a:t>
            </a:r>
            <a:endParaRPr lang="en-US" sz="1150" dirty="0"/>
          </a:p>
        </p:txBody>
      </p:sp>
      <p:sp>
        <p:nvSpPr>
          <p:cNvPr id="35" name="Text 33"/>
          <p:cNvSpPr/>
          <p:nvPr/>
        </p:nvSpPr>
        <p:spPr>
          <a:xfrm>
            <a:off x="566928" y="4956048"/>
            <a:ext cx="10835640" cy="274320"/>
          </a:xfrm>
          <a:prstGeom prst="rect">
            <a:avLst/>
          </a:prstGeom>
          <a:noFill/>
          <a:ln/>
        </p:spPr>
        <p:txBody>
          <a:bodyPr wrap="square" lIns="0" tIns="0" rIns="0" bIns="0" rtlCol="0" anchor="ctr"/>
          <a:lstStyle/>
          <a:p>
            <a:pPr indent="0" marL="0">
              <a:buNone/>
            </a:pPr>
            <a:r>
              <a:rPr lang="en-US" sz="1150" i="1" dirty="0">
                <a:solidFill>
                  <a:srgbClr val="1D4A3A"/>
                </a:solidFill>
                <a:latin typeface="Calibri" pitchFamily="34" charset="0"/>
                <a:ea typeface="Calibri" pitchFamily="34" charset="-122"/>
                <a:cs typeface="Calibri" pitchFamily="34" charset="-120"/>
              </a:rPr>
              <a:t>Order runs left to right. Nothing downstream can change a verdict computed upstream.</a:t>
            </a:r>
            <a:endParaRPr lang="en-US" sz="1150" dirty="0"/>
          </a:p>
        </p:txBody>
      </p:sp>
      <p:sp>
        <p:nvSpPr>
          <p:cNvPr id="36" name="Text 34"/>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7" name="Text 35"/>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SOURCE DATA TO OUTPUT DATA</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Where the data comes from,</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and where it goes</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Five sources, one canonical model, one finding record - and two loops that close the system.</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DATA RELATIONSHIP</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From EDC export to an issued query</a:t>
            </a:r>
            <a:endParaRPr lang="en-US" sz="3200" dirty="0"/>
          </a:p>
        </p:txBody>
      </p:sp>
      <p:sp>
        <p:nvSpPr>
          <p:cNvPr id="4" name="Shape 2"/>
          <p:cNvSpPr/>
          <p:nvPr/>
        </p:nvSpPr>
        <p:spPr>
          <a:xfrm>
            <a:off x="566928"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13232"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SOURCE DATA</a:t>
            </a:r>
            <a:endParaRPr lang="en-US" sz="800" dirty="0"/>
          </a:p>
        </p:txBody>
      </p:sp>
      <p:sp>
        <p:nvSpPr>
          <p:cNvPr id="6" name="Text 4"/>
          <p:cNvSpPr/>
          <p:nvPr/>
        </p:nvSpPr>
        <p:spPr>
          <a:xfrm>
            <a:off x="713232"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Veeva EDC export</a:t>
            </a:r>
            <a:endParaRPr lang="en-US" sz="1050" dirty="0"/>
          </a:p>
        </p:txBody>
      </p:sp>
      <p:sp>
        <p:nvSpPr>
          <p:cNvPr id="7" name="Text 5"/>
          <p:cNvSpPr/>
          <p:nvPr/>
        </p:nvSpPr>
        <p:spPr>
          <a:xfrm>
            <a:off x="713232"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CRF specification</a:t>
            </a:r>
            <a:endParaRPr lang="en-US" sz="1050" dirty="0"/>
          </a:p>
        </p:txBody>
      </p:sp>
      <p:sp>
        <p:nvSpPr>
          <p:cNvPr id="8" name="Text 6"/>
          <p:cNvSpPr/>
          <p:nvPr/>
        </p:nvSpPr>
        <p:spPr>
          <a:xfrm>
            <a:off x="713232"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Protocol + imaging charter</a:t>
            </a:r>
            <a:endParaRPr lang="en-US" sz="1050" dirty="0"/>
          </a:p>
        </p:txBody>
      </p:sp>
      <p:sp>
        <p:nvSpPr>
          <p:cNvPr id="9" name="Text 7"/>
          <p:cNvSpPr/>
          <p:nvPr/>
        </p:nvSpPr>
        <p:spPr>
          <a:xfrm>
            <a:off x="713232"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Query report</a:t>
            </a:r>
            <a:endParaRPr lang="en-US" sz="1050" dirty="0"/>
          </a:p>
        </p:txBody>
      </p:sp>
      <p:sp>
        <p:nvSpPr>
          <p:cNvPr id="10" name="Text 8"/>
          <p:cNvSpPr/>
          <p:nvPr/>
        </p:nvSpPr>
        <p:spPr>
          <a:xfrm>
            <a:off x="713232"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Cross-domain data</a:t>
            </a:r>
            <a:endParaRPr lang="en-US" sz="1050" dirty="0"/>
          </a:p>
        </p:txBody>
      </p:sp>
      <p:sp>
        <p:nvSpPr>
          <p:cNvPr id="11" name="Shape 9"/>
          <p:cNvSpPr/>
          <p:nvPr/>
        </p:nvSpPr>
        <p:spPr>
          <a:xfrm>
            <a:off x="2665476" y="2971800"/>
            <a:ext cx="109728" cy="182880"/>
          </a:xfrm>
          <a:prstGeom prst="rightArrow">
            <a:avLst/>
          </a:prstGeom>
          <a:solidFill>
            <a:srgbClr val="1D4A3A"/>
          </a:solidFill>
          <a:ln w="12700">
            <a:solidFill>
              <a:srgbClr val="1D4A3A"/>
            </a:solidFill>
            <a:prstDash val="solid"/>
          </a:ln>
        </p:spPr>
      </p:sp>
      <p:sp>
        <p:nvSpPr>
          <p:cNvPr id="12" name="Shape 10"/>
          <p:cNvSpPr/>
          <p:nvPr/>
        </p:nvSpPr>
        <p:spPr>
          <a:xfrm>
            <a:off x="2788920" y="1783080"/>
            <a:ext cx="2084832" cy="2606040"/>
          </a:xfrm>
          <a:prstGeom prst="roundRect">
            <a:avLst>
              <a:gd name="adj" fmla="val 2193"/>
            </a:avLst>
          </a:prstGeom>
          <a:solidFill>
            <a:srgbClr val="E3EDE7"/>
          </a:solidFill>
          <a:ln w="15875">
            <a:solidFill>
              <a:srgbClr val="1D4A3A"/>
            </a:solidFill>
            <a:prstDash val="solid"/>
          </a:ln>
          <a:effectLst>
            <a:outerShdw sx="100000" sy="100000" kx="0" ky="0" algn="bl" rotWithShape="0" blurRad="101600" dist="508" dir="5400000">
              <a:srgbClr val="16201C">
                <a:alpha val="10000"/>
              </a:srgbClr>
            </a:outerShdw>
          </a:effectLst>
        </p:spPr>
      </p:sp>
      <p:sp>
        <p:nvSpPr>
          <p:cNvPr id="13" name="Text 11"/>
          <p:cNvSpPr/>
          <p:nvPr/>
        </p:nvSpPr>
        <p:spPr>
          <a:xfrm>
            <a:off x="2935224"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CANONICAL MODEL</a:t>
            </a:r>
            <a:endParaRPr lang="en-US" sz="800" dirty="0"/>
          </a:p>
        </p:txBody>
      </p:sp>
      <p:sp>
        <p:nvSpPr>
          <p:cNvPr id="14" name="Text 12"/>
          <p:cNvSpPr/>
          <p:nvPr/>
        </p:nvSpPr>
        <p:spPr>
          <a:xfrm>
            <a:off x="2935224"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TEA-CTR-001</a:t>
            </a:r>
            <a:endParaRPr lang="en-US" sz="1050" dirty="0"/>
          </a:p>
        </p:txBody>
      </p:sp>
      <p:sp>
        <p:nvSpPr>
          <p:cNvPr id="15" name="Text 13"/>
          <p:cNvSpPr/>
          <p:nvPr/>
        </p:nvSpPr>
        <p:spPr>
          <a:xfrm>
            <a:off x="2935224"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12 entities</a:t>
            </a:r>
            <a:endParaRPr lang="en-US" sz="1050" dirty="0"/>
          </a:p>
        </p:txBody>
      </p:sp>
      <p:sp>
        <p:nvSpPr>
          <p:cNvPr id="16" name="Text 14"/>
          <p:cNvSpPr/>
          <p:nvPr/>
        </p:nvSpPr>
        <p:spPr>
          <a:xfrm>
            <a:off x="2935224"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Units normalised</a:t>
            </a:r>
            <a:endParaRPr lang="en-US" sz="1050" dirty="0"/>
          </a:p>
        </p:txBody>
      </p:sp>
      <p:sp>
        <p:nvSpPr>
          <p:cNvPr id="17" name="Text 15"/>
          <p:cNvSpPr/>
          <p:nvPr/>
        </p:nvSpPr>
        <p:spPr>
          <a:xfrm>
            <a:off x="2935224"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Lesion identity resolved</a:t>
            </a:r>
            <a:endParaRPr lang="en-US" sz="1050" dirty="0"/>
          </a:p>
        </p:txBody>
      </p:sp>
      <p:sp>
        <p:nvSpPr>
          <p:cNvPr id="18" name="Text 16"/>
          <p:cNvSpPr/>
          <p:nvPr/>
        </p:nvSpPr>
        <p:spPr>
          <a:xfrm>
            <a:off x="2935224"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No source field names</a:t>
            </a:r>
            <a:endParaRPr lang="en-US" sz="1050" dirty="0"/>
          </a:p>
        </p:txBody>
      </p:sp>
      <p:sp>
        <p:nvSpPr>
          <p:cNvPr id="19" name="Shape 17"/>
          <p:cNvSpPr/>
          <p:nvPr/>
        </p:nvSpPr>
        <p:spPr>
          <a:xfrm>
            <a:off x="4887468" y="2971800"/>
            <a:ext cx="109728" cy="182880"/>
          </a:xfrm>
          <a:prstGeom prst="rightArrow">
            <a:avLst/>
          </a:prstGeom>
          <a:solidFill>
            <a:srgbClr val="1D4A3A"/>
          </a:solidFill>
          <a:ln w="12700">
            <a:solidFill>
              <a:srgbClr val="1D4A3A"/>
            </a:solidFill>
            <a:prstDash val="solid"/>
          </a:ln>
        </p:spPr>
      </p:sp>
      <p:sp>
        <p:nvSpPr>
          <p:cNvPr id="20" name="Shape 18"/>
          <p:cNvSpPr/>
          <p:nvPr/>
        </p:nvSpPr>
        <p:spPr>
          <a:xfrm>
            <a:off x="5010912"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1" name="Text 19"/>
          <p:cNvSpPr/>
          <p:nvPr/>
        </p:nvSpPr>
        <p:spPr>
          <a:xfrm>
            <a:off x="5157216"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AGENT COMPUTATION</a:t>
            </a:r>
            <a:endParaRPr lang="en-US" sz="800" dirty="0"/>
          </a:p>
        </p:txBody>
      </p:sp>
      <p:sp>
        <p:nvSpPr>
          <p:cNvPr id="22" name="Text 20"/>
          <p:cNvSpPr/>
          <p:nvPr/>
        </p:nvSpPr>
        <p:spPr>
          <a:xfrm>
            <a:off x="5157216"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D-01 ... D-10 derivations</a:t>
            </a:r>
            <a:endParaRPr lang="en-US" sz="1050" dirty="0"/>
          </a:p>
        </p:txBody>
      </p:sp>
      <p:sp>
        <p:nvSpPr>
          <p:cNvPr id="23" name="Text 21"/>
          <p:cNvSpPr/>
          <p:nvPr/>
        </p:nvSpPr>
        <p:spPr>
          <a:xfrm>
            <a:off x="5157216"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83 live review points</a:t>
            </a:r>
            <a:endParaRPr lang="en-US" sz="1050" dirty="0"/>
          </a:p>
        </p:txBody>
      </p:sp>
      <p:sp>
        <p:nvSpPr>
          <p:cNvPr id="24" name="Text 22"/>
          <p:cNvSpPr/>
          <p:nvPr/>
        </p:nvSpPr>
        <p:spPr>
          <a:xfrm>
            <a:off x="5157216"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7 rule families</a:t>
            </a:r>
            <a:endParaRPr lang="en-US" sz="1050" dirty="0"/>
          </a:p>
        </p:txBody>
      </p:sp>
      <p:sp>
        <p:nvSpPr>
          <p:cNvPr id="25" name="Text 23"/>
          <p:cNvSpPr/>
          <p:nvPr/>
        </p:nvSpPr>
        <p:spPr>
          <a:xfrm>
            <a:off x="5157216"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Confidence rate</a:t>
            </a:r>
            <a:endParaRPr lang="en-US" sz="1050" dirty="0"/>
          </a:p>
        </p:txBody>
      </p:sp>
      <p:sp>
        <p:nvSpPr>
          <p:cNvPr id="26" name="Text 24"/>
          <p:cNvSpPr/>
          <p:nvPr/>
        </p:nvSpPr>
        <p:spPr>
          <a:xfrm>
            <a:off x="5157216"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Cascade grouping</a:t>
            </a:r>
            <a:endParaRPr lang="en-US" sz="1050" dirty="0"/>
          </a:p>
        </p:txBody>
      </p:sp>
      <p:sp>
        <p:nvSpPr>
          <p:cNvPr id="27" name="Shape 25"/>
          <p:cNvSpPr/>
          <p:nvPr/>
        </p:nvSpPr>
        <p:spPr>
          <a:xfrm>
            <a:off x="7109460" y="2971800"/>
            <a:ext cx="109728" cy="182880"/>
          </a:xfrm>
          <a:prstGeom prst="rightArrow">
            <a:avLst/>
          </a:prstGeom>
          <a:solidFill>
            <a:srgbClr val="1D4A3A"/>
          </a:solidFill>
          <a:ln w="12700">
            <a:solidFill>
              <a:srgbClr val="1D4A3A"/>
            </a:solidFill>
            <a:prstDash val="solid"/>
          </a:ln>
        </p:spPr>
      </p:sp>
      <p:sp>
        <p:nvSpPr>
          <p:cNvPr id="28" name="Shape 26"/>
          <p:cNvSpPr/>
          <p:nvPr/>
        </p:nvSpPr>
        <p:spPr>
          <a:xfrm>
            <a:off x="7232904" y="1783080"/>
            <a:ext cx="2084832" cy="2606040"/>
          </a:xfrm>
          <a:prstGeom prst="roundRect">
            <a:avLst>
              <a:gd name="adj" fmla="val 2193"/>
            </a:avLst>
          </a:prstGeom>
          <a:solidFill>
            <a:srgbClr val="E3EDE7"/>
          </a:solidFill>
          <a:ln w="15875">
            <a:solidFill>
              <a:srgbClr val="1D4A3A"/>
            </a:solidFill>
            <a:prstDash val="solid"/>
          </a:ln>
          <a:effectLst>
            <a:outerShdw sx="100000" sy="100000" kx="0" ky="0" algn="bl" rotWithShape="0" blurRad="101600" dist="508" dir="5400000">
              <a:srgbClr val="16201C">
                <a:alpha val="10000"/>
              </a:srgbClr>
            </a:outerShdw>
          </a:effectLst>
        </p:spPr>
      </p:sp>
      <p:sp>
        <p:nvSpPr>
          <p:cNvPr id="29" name="Text 27"/>
          <p:cNvSpPr/>
          <p:nvPr/>
        </p:nvSpPr>
        <p:spPr>
          <a:xfrm>
            <a:off x="7379208"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OUTPUT DATA</a:t>
            </a:r>
            <a:endParaRPr lang="en-US" sz="800" dirty="0"/>
          </a:p>
        </p:txBody>
      </p:sp>
      <p:sp>
        <p:nvSpPr>
          <p:cNvPr id="30" name="Text 28"/>
          <p:cNvSpPr/>
          <p:nvPr/>
        </p:nvSpPr>
        <p:spPr>
          <a:xfrm>
            <a:off x="7379208"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TEA-CTR-002 finding</a:t>
            </a:r>
            <a:endParaRPr lang="en-US" sz="1050" dirty="0"/>
          </a:p>
        </p:txBody>
      </p:sp>
      <p:sp>
        <p:nvSpPr>
          <p:cNvPr id="31" name="Text 29"/>
          <p:cNvSpPr/>
          <p:nvPr/>
        </p:nvSpPr>
        <p:spPr>
          <a:xfrm>
            <a:off x="7379208"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Severity + confidence</a:t>
            </a:r>
            <a:endParaRPr lang="en-US" sz="1050" dirty="0"/>
          </a:p>
        </p:txBody>
      </p:sp>
      <p:sp>
        <p:nvSpPr>
          <p:cNvPr id="32" name="Text 30"/>
          <p:cNvSpPr/>
          <p:nvPr/>
        </p:nvSpPr>
        <p:spPr>
          <a:xfrm>
            <a:off x="7379208"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Evidence + trace</a:t>
            </a:r>
            <a:endParaRPr lang="en-US" sz="1050" dirty="0"/>
          </a:p>
        </p:txBody>
      </p:sp>
      <p:sp>
        <p:nvSpPr>
          <p:cNvPr id="33" name="Text 31"/>
          <p:cNvSpPr/>
          <p:nvPr/>
        </p:nvSpPr>
        <p:spPr>
          <a:xfrm>
            <a:off x="7379208"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Five reviewer texts</a:t>
            </a:r>
            <a:endParaRPr lang="en-US" sz="1050" dirty="0"/>
          </a:p>
        </p:txBody>
      </p:sp>
      <p:sp>
        <p:nvSpPr>
          <p:cNvPr id="34" name="Text 32"/>
          <p:cNvSpPr/>
          <p:nvPr/>
        </p:nvSpPr>
        <p:spPr>
          <a:xfrm>
            <a:off x="7379208"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Coverage report</a:t>
            </a:r>
            <a:endParaRPr lang="en-US" sz="1050" dirty="0"/>
          </a:p>
        </p:txBody>
      </p:sp>
      <p:sp>
        <p:nvSpPr>
          <p:cNvPr id="35" name="Shape 33"/>
          <p:cNvSpPr/>
          <p:nvPr/>
        </p:nvSpPr>
        <p:spPr>
          <a:xfrm>
            <a:off x="9331452" y="2971800"/>
            <a:ext cx="109728" cy="182880"/>
          </a:xfrm>
          <a:prstGeom prst="rightArrow">
            <a:avLst/>
          </a:prstGeom>
          <a:solidFill>
            <a:srgbClr val="1D4A3A"/>
          </a:solidFill>
          <a:ln w="12700">
            <a:solidFill>
              <a:srgbClr val="1D4A3A"/>
            </a:solidFill>
            <a:prstDash val="solid"/>
          </a:ln>
        </p:spPr>
      </p:sp>
      <p:sp>
        <p:nvSpPr>
          <p:cNvPr id="36" name="Shape 34"/>
          <p:cNvSpPr/>
          <p:nvPr/>
        </p:nvSpPr>
        <p:spPr>
          <a:xfrm>
            <a:off x="9454896"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37" name="Text 35"/>
          <p:cNvSpPr/>
          <p:nvPr/>
        </p:nvSpPr>
        <p:spPr>
          <a:xfrm>
            <a:off x="9601200"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HUMAN ACTION</a:t>
            </a:r>
            <a:endParaRPr lang="en-US" sz="800" dirty="0"/>
          </a:p>
        </p:txBody>
      </p:sp>
      <p:sp>
        <p:nvSpPr>
          <p:cNvPr id="38" name="Text 36"/>
          <p:cNvSpPr/>
          <p:nvPr/>
        </p:nvSpPr>
        <p:spPr>
          <a:xfrm>
            <a:off x="9601200"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Review and disposition</a:t>
            </a:r>
            <a:endParaRPr lang="en-US" sz="1050" dirty="0"/>
          </a:p>
        </p:txBody>
      </p:sp>
      <p:sp>
        <p:nvSpPr>
          <p:cNvPr id="39" name="Text 37"/>
          <p:cNvSpPr/>
          <p:nvPr/>
        </p:nvSpPr>
        <p:spPr>
          <a:xfrm>
            <a:off x="9601200"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Approved query text</a:t>
            </a:r>
            <a:endParaRPr lang="en-US" sz="1050" dirty="0"/>
          </a:p>
        </p:txBody>
      </p:sp>
      <p:sp>
        <p:nvSpPr>
          <p:cNvPr id="40" name="Text 38"/>
          <p:cNvSpPr/>
          <p:nvPr/>
        </p:nvSpPr>
        <p:spPr>
          <a:xfrm>
            <a:off x="9601200"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Issued manually</a:t>
            </a:r>
            <a:endParaRPr lang="en-US" sz="1050" dirty="0"/>
          </a:p>
        </p:txBody>
      </p:sp>
      <p:sp>
        <p:nvSpPr>
          <p:cNvPr id="41" name="Text 39"/>
          <p:cNvSpPr/>
          <p:nvPr/>
        </p:nvSpPr>
        <p:spPr>
          <a:xfrm>
            <a:off x="9601200" y="3465576"/>
            <a:ext cx="1792224" cy="365760"/>
          </a:xfrm>
          <a:prstGeom prst="rect">
            <a:avLst/>
          </a:prstGeom>
          <a:noFill/>
          <a:ln/>
        </p:spPr>
        <p:txBody>
          <a:bodyPr wrap="square" lIns="0" tIns="0" rIns="0" bIns="0" rtlCol="0" anchor="t"/>
          <a:lstStyle/>
          <a:p>
            <a:pPr indent="0" marL="0">
              <a:lnSpc>
                <a:spcPts val="1300"/>
              </a:lnSpc>
              <a:buNone/>
            </a:pPr>
            <a:r>
              <a:rPr lang="en-US" sz="1050" b="1" dirty="0">
                <a:solidFill>
                  <a:srgbClr val="8C2F39"/>
                </a:solidFill>
                <a:latin typeface="Calibri" pitchFamily="34" charset="0"/>
                <a:ea typeface="Calibri" pitchFamily="34" charset="-122"/>
                <a:cs typeface="Calibri" pitchFamily="34" charset="-120"/>
              </a:rPr>
              <a:t>Never automatic</a:t>
            </a:r>
            <a:endParaRPr lang="en-US" sz="1050" dirty="0"/>
          </a:p>
        </p:txBody>
      </p:sp>
      <p:sp>
        <p:nvSpPr>
          <p:cNvPr id="42" name="Text 40"/>
          <p:cNvSpPr/>
          <p:nvPr/>
        </p:nvSpPr>
        <p:spPr>
          <a:xfrm>
            <a:off x="9601200"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Site answers</a:t>
            </a:r>
            <a:endParaRPr lang="en-US" sz="1050" dirty="0"/>
          </a:p>
        </p:txBody>
      </p:sp>
      <p:sp>
        <p:nvSpPr>
          <p:cNvPr id="43" name="Shape 41"/>
          <p:cNvSpPr/>
          <p:nvPr/>
        </p:nvSpPr>
        <p:spPr>
          <a:xfrm>
            <a:off x="566928" y="4572000"/>
            <a:ext cx="10835640" cy="1170432"/>
          </a:xfrm>
          <a:prstGeom prst="roundRect">
            <a:avLst>
              <a:gd name="adj" fmla="val 3906"/>
            </a:avLst>
          </a:prstGeom>
          <a:solidFill>
            <a:srgbClr val="E3EDE7"/>
          </a:solidFill>
          <a:ln w="12700">
            <a:solidFill>
              <a:srgbClr val="1D4A3A"/>
            </a:solidFill>
            <a:prstDash val="solid"/>
          </a:ln>
        </p:spPr>
      </p:sp>
      <p:sp>
        <p:nvSpPr>
          <p:cNvPr id="44" name="Text 42"/>
          <p:cNvSpPr/>
          <p:nvPr/>
        </p:nvSpPr>
        <p:spPr>
          <a:xfrm>
            <a:off x="841248" y="4700016"/>
            <a:ext cx="4572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TWO LOOPS CLOSE THE SYSTEM</a:t>
            </a:r>
            <a:endParaRPr lang="en-US" sz="850" dirty="0"/>
          </a:p>
        </p:txBody>
      </p:sp>
      <p:sp>
        <p:nvSpPr>
          <p:cNvPr id="45" name="Shape 43"/>
          <p:cNvSpPr/>
          <p:nvPr/>
        </p:nvSpPr>
        <p:spPr>
          <a:xfrm>
            <a:off x="841248" y="5065776"/>
            <a:ext cx="201168" cy="146304"/>
          </a:xfrm>
          <a:prstGeom prst="leftArrow">
            <a:avLst/>
          </a:prstGeom>
          <a:solidFill>
            <a:srgbClr val="1D4A3A"/>
          </a:solidFill>
          <a:ln w="12700">
            <a:solidFill>
              <a:srgbClr val="1D4A3A"/>
            </a:solidFill>
            <a:prstDash val="solid"/>
          </a:ln>
        </p:spPr>
      </p:sp>
      <p:sp>
        <p:nvSpPr>
          <p:cNvPr id="46" name="Text 44"/>
          <p:cNvSpPr/>
          <p:nvPr/>
        </p:nvSpPr>
        <p:spPr>
          <a:xfrm>
            <a:off x="1170432" y="5010912"/>
            <a:ext cx="9966960" cy="274320"/>
          </a:xfrm>
          <a:prstGeom prst="rect">
            <a:avLst/>
          </a:prstGeom>
          <a:noFill/>
          <a:ln/>
        </p:spPr>
        <p:txBody>
          <a:bodyPr wrap="square" lIns="0" tIns="0" rIns="0" bIns="0" rtlCol="0" anchor="ctr"/>
          <a:lstStyle/>
          <a:p>
            <a:pPr indent="0" marL="0">
              <a:buNone/>
            </a:pPr>
            <a:r>
              <a:rPr lang="en-US" sz="1150" dirty="0">
                <a:solidFill>
                  <a:srgbClr val="16201C"/>
                </a:solidFill>
                <a:latin typeface="Calibri" pitchFamily="34" charset="0"/>
                <a:ea typeface="Calibri" pitchFamily="34" charset="-122"/>
                <a:cs typeface="Calibri" pitchFamily="34" charset="-120"/>
              </a:rPr>
              <a:t>Site answers return as source data at the next data cut, where the reconciler judges whether the answer justified the data.</a:t>
            </a:r>
            <a:endParaRPr lang="en-US" sz="1150" dirty="0"/>
          </a:p>
        </p:txBody>
      </p:sp>
      <p:sp>
        <p:nvSpPr>
          <p:cNvPr id="47" name="Shape 45"/>
          <p:cNvSpPr/>
          <p:nvPr/>
        </p:nvSpPr>
        <p:spPr>
          <a:xfrm>
            <a:off x="841248" y="5385816"/>
            <a:ext cx="201168" cy="146304"/>
          </a:xfrm>
          <a:prstGeom prst="leftArrow">
            <a:avLst/>
          </a:prstGeom>
          <a:solidFill>
            <a:srgbClr val="1D4A3A"/>
          </a:solidFill>
          <a:ln w="12700">
            <a:solidFill>
              <a:srgbClr val="1D4A3A"/>
            </a:solidFill>
            <a:prstDash val="solid"/>
          </a:ln>
        </p:spPr>
      </p:sp>
      <p:sp>
        <p:nvSpPr>
          <p:cNvPr id="48" name="Text 46"/>
          <p:cNvSpPr/>
          <p:nvPr/>
        </p:nvSpPr>
        <p:spPr>
          <a:xfrm>
            <a:off x="1170432" y="5330952"/>
            <a:ext cx="9966960" cy="274320"/>
          </a:xfrm>
          <a:prstGeom prst="rect">
            <a:avLst/>
          </a:prstGeom>
          <a:noFill/>
          <a:ln/>
        </p:spPr>
        <p:txBody>
          <a:bodyPr wrap="square" lIns="0" tIns="0" rIns="0" bIns="0" rtlCol="0" anchor="ctr"/>
          <a:lstStyle/>
          <a:p>
            <a:pPr indent="0" marL="0">
              <a:buNone/>
            </a:pPr>
            <a:r>
              <a:rPr lang="en-US" sz="1150" dirty="0">
                <a:solidFill>
                  <a:srgbClr val="16201C"/>
                </a:solidFill>
                <a:latin typeface="Calibri" pitchFamily="34" charset="0"/>
                <a:ea typeface="Calibri" pitchFamily="34" charset="-122"/>
                <a:cs typeface="Calibri" pitchFamily="34" charset="-120"/>
              </a:rPr>
              <a:t>Reviewer dispositions tune the confidence model, so a rule people keep rejecting is down-weighted without a rule release.</a:t>
            </a:r>
            <a:endParaRPr lang="en-US" sz="1150" dirty="0"/>
          </a:p>
        </p:txBody>
      </p:sp>
      <p:sp>
        <p:nvSpPr>
          <p:cNvPr id="49" name="Text 47"/>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50" name="Text 48"/>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ROLES AND RESPONSIBILITIES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Who owns what, on which clock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0835640" cy="914400"/>
        </p:xfrm>
        <a:graphic>
          <a:graphicData uri="http://schemas.openxmlformats.org/drawingml/2006/table">
            <a:tbl>
              <a:tblPr/>
              <a:tblGrid>
                <a:gridCol w="3794760"/>
                <a:gridCol w="1371600"/>
                <a:gridCol w="2834640"/>
                <a:gridCol w="2834640"/>
              </a:tblGrid>
              <a:tr h="274320">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ACTIVITY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CLOCK</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LEADS</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APPROVES</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Define review points and severities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Agree confidence base rates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Implement engine, rules and application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programming</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CDM at each gate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Validation package and change control</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Quality / validation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Quality / validation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Approve model hosting and data egress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IT security / privacy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IT security / privacy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Confirm protocol parameter checkpoints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study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Map the CRF, verify field availability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study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programming</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Trigger a run and triage findings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Adjudicate clinical judgement findings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Edit and issue the query into the EDC</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Answer the query, correct the data</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Investigator site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Investigator site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Review rule performance and retune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bl>
          </a:graphicData>
        </a:graphic>
      </p:graphicFrame>
      <p:sp>
        <p:nvSpPr>
          <p:cNvPr id="5" name="Text 2"/>
          <p:cNvSpPr/>
          <p:nvPr/>
        </p:nvSpPr>
        <p:spPr>
          <a:xfrm>
            <a:off x="566928" y="5742432"/>
            <a:ext cx="10835640" cy="457200"/>
          </a:xfrm>
          <a:prstGeom prst="rect">
            <a:avLst/>
          </a:prstGeom>
          <a:noFill/>
          <a:ln/>
        </p:spPr>
        <p:txBody>
          <a:bodyPr wrap="square" lIns="0" tIns="0" rIns="0" bIns="0" rtlCol="0" anchor="ctr"/>
          <a:lstStyle/>
          <a:p>
            <a:pPr indent="0" marL="0">
              <a:lnSpc>
                <a:spcPts val="1600"/>
              </a:lnSpc>
              <a:buNone/>
            </a:pPr>
            <a:r>
              <a:rPr lang="en-US" sz="1200" i="1" dirty="0">
                <a:solidFill>
                  <a:srgbClr val="1D4A3A"/>
                </a:solidFill>
                <a:latin typeface="Calibri" pitchFamily="34" charset="0"/>
                <a:ea typeface="Calibri" pitchFamily="34" charset="-122"/>
                <a:cs typeface="Calibri" pitchFamily="34" charset="-120"/>
              </a:rPr>
              <a:t>These are responsibilities, not system permissions. Release 1 does not enforce role-based access - anyone may review and approve, because no query is issued automatically.</a:t>
            </a:r>
            <a:endParaRPr lang="en-US" sz="1200" dirty="0"/>
          </a:p>
        </p:txBody>
      </p:sp>
      <p:sp>
        <p:nvSpPr>
          <p:cNvPr id="6" name="Text 3"/>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7" name="Text 4"/>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READING THE DOCUMENTS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What each identifier means</a:t>
            </a:r>
            <a:endParaRPr lang="en-US" sz="3200" dirty="0"/>
          </a:p>
        </p:txBody>
      </p:sp>
      <p:sp>
        <p:nvSpPr>
          <p:cNvPr id="4" name="Text 2"/>
          <p:cNvSpPr/>
          <p:nvPr/>
        </p:nvSpPr>
        <p:spPr>
          <a:xfrm>
            <a:off x="566928" y="1591056"/>
            <a:ext cx="10424160" cy="365760"/>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Identifiers appear constantly across the workbooks. This is which document owns each family.</a:t>
            </a:r>
            <a:endParaRPr lang="en-US" sz="1400" dirty="0"/>
          </a:p>
        </p:txBody>
      </p:sp>
      <p:sp>
        <p:nvSpPr>
          <p:cNvPr id="5" name="Shape 3"/>
          <p:cNvSpPr/>
          <p:nvPr/>
        </p:nvSpPr>
        <p:spPr>
          <a:xfrm>
            <a:off x="566928" y="2121408"/>
            <a:ext cx="5321808" cy="804672"/>
          </a:xfrm>
          <a:prstGeom prst="roundRect">
            <a:avLst>
              <a:gd name="adj" fmla="val 5682"/>
            </a:avLst>
          </a:prstGeom>
          <a:solidFill>
            <a:srgbClr val="FFFFFF"/>
          </a:solidFill>
          <a:ln w="12700">
            <a:solidFill>
              <a:srgbClr val="D4DAD2"/>
            </a:solidFill>
            <a:prstDash val="solid"/>
          </a:ln>
        </p:spPr>
      </p:sp>
      <p:sp>
        <p:nvSpPr>
          <p:cNvPr id="6" name="Text 4"/>
          <p:cNvSpPr/>
          <p:nvPr/>
        </p:nvSpPr>
        <p:spPr>
          <a:xfrm>
            <a:off x="731520" y="2231136"/>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OBJ / FR / NFR / REG</a:t>
            </a:r>
            <a:endParaRPr lang="en-US" sz="850" dirty="0"/>
          </a:p>
        </p:txBody>
      </p:sp>
      <p:sp>
        <p:nvSpPr>
          <p:cNvPr id="7" name="Text 5"/>
          <p:cNvSpPr/>
          <p:nvPr/>
        </p:nvSpPr>
        <p:spPr>
          <a:xfrm>
            <a:off x="3081528" y="2231136"/>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Development plan</a:t>
            </a:r>
            <a:endParaRPr lang="en-US" sz="1150" dirty="0"/>
          </a:p>
        </p:txBody>
      </p:sp>
      <p:sp>
        <p:nvSpPr>
          <p:cNvPr id="8" name="Text 6"/>
          <p:cNvSpPr/>
          <p:nvPr/>
        </p:nvSpPr>
        <p:spPr>
          <a:xfrm>
            <a:off x="731520" y="2487168"/>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Objectives and requirements. Approved, and the parent of everything else.</a:t>
            </a:r>
            <a:endParaRPr lang="en-US" sz="1000" dirty="0"/>
          </a:p>
        </p:txBody>
      </p:sp>
      <p:sp>
        <p:nvSpPr>
          <p:cNvPr id="9" name="Shape 7"/>
          <p:cNvSpPr/>
          <p:nvPr/>
        </p:nvSpPr>
        <p:spPr>
          <a:xfrm>
            <a:off x="6053328" y="2121408"/>
            <a:ext cx="5321808" cy="804672"/>
          </a:xfrm>
          <a:prstGeom prst="roundRect">
            <a:avLst>
              <a:gd name="adj" fmla="val 5682"/>
            </a:avLst>
          </a:prstGeom>
          <a:solidFill>
            <a:srgbClr val="FFFFFF"/>
          </a:solidFill>
          <a:ln w="12700">
            <a:solidFill>
              <a:srgbClr val="D4DAD2"/>
            </a:solidFill>
            <a:prstDash val="solid"/>
          </a:ln>
        </p:spPr>
      </p:sp>
      <p:sp>
        <p:nvSpPr>
          <p:cNvPr id="10" name="Text 8"/>
          <p:cNvSpPr/>
          <p:nvPr/>
        </p:nvSpPr>
        <p:spPr>
          <a:xfrm>
            <a:off x="6217920" y="2231136"/>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AC-01 ... AC-11</a:t>
            </a:r>
            <a:endParaRPr lang="en-US" sz="850" dirty="0"/>
          </a:p>
        </p:txBody>
      </p:sp>
      <p:sp>
        <p:nvSpPr>
          <p:cNvPr id="11" name="Text 9"/>
          <p:cNvSpPr/>
          <p:nvPr/>
        </p:nvSpPr>
        <p:spPr>
          <a:xfrm>
            <a:off x="8567928" y="2231136"/>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Components</a:t>
            </a:r>
            <a:endParaRPr lang="en-US" sz="1150" dirty="0"/>
          </a:p>
        </p:txBody>
      </p:sp>
      <p:sp>
        <p:nvSpPr>
          <p:cNvPr id="12" name="Text 10"/>
          <p:cNvSpPr/>
          <p:nvPr/>
        </p:nvSpPr>
        <p:spPr>
          <a:xfrm>
            <a:off x="6217920" y="2487168"/>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eleven runtime parts, in pipeline order.</a:t>
            </a:r>
            <a:endParaRPr lang="en-US" sz="1000" dirty="0"/>
          </a:p>
        </p:txBody>
      </p:sp>
      <p:sp>
        <p:nvSpPr>
          <p:cNvPr id="13" name="Shape 11"/>
          <p:cNvSpPr/>
          <p:nvPr/>
        </p:nvSpPr>
        <p:spPr>
          <a:xfrm>
            <a:off x="566928" y="3054096"/>
            <a:ext cx="5321808" cy="804672"/>
          </a:xfrm>
          <a:prstGeom prst="roundRect">
            <a:avLst>
              <a:gd name="adj" fmla="val 5682"/>
            </a:avLst>
          </a:prstGeom>
          <a:solidFill>
            <a:srgbClr val="FFFFFF"/>
          </a:solidFill>
          <a:ln w="12700">
            <a:solidFill>
              <a:srgbClr val="D4DAD2"/>
            </a:solidFill>
            <a:prstDash val="solid"/>
          </a:ln>
        </p:spPr>
      </p:sp>
      <p:sp>
        <p:nvSpPr>
          <p:cNvPr id="14" name="Text 12"/>
          <p:cNvSpPr/>
          <p:nvPr/>
        </p:nvSpPr>
        <p:spPr>
          <a:xfrm>
            <a:off x="731520" y="3163824"/>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D-01 ... D-10</a:t>
            </a:r>
            <a:endParaRPr lang="en-US" sz="850" dirty="0"/>
          </a:p>
        </p:txBody>
      </p:sp>
      <p:sp>
        <p:nvSpPr>
          <p:cNvPr id="15" name="Text 13"/>
          <p:cNvSpPr/>
          <p:nvPr/>
        </p:nvSpPr>
        <p:spPr>
          <a:xfrm>
            <a:off x="3081528" y="3163824"/>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Derivations</a:t>
            </a:r>
            <a:endParaRPr lang="en-US" sz="1150" dirty="0"/>
          </a:p>
        </p:txBody>
      </p:sp>
      <p:sp>
        <p:nvSpPr>
          <p:cNvPr id="16" name="Text 14"/>
          <p:cNvSpPr/>
          <p:nvPr/>
        </p:nvSpPr>
        <p:spPr>
          <a:xfrm>
            <a:off x="731520" y="3419856"/>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arithmetic. One wrong here makes many rules wrong together.</a:t>
            </a:r>
            <a:endParaRPr lang="en-US" sz="1000" dirty="0"/>
          </a:p>
        </p:txBody>
      </p:sp>
      <p:sp>
        <p:nvSpPr>
          <p:cNvPr id="17" name="Shape 15"/>
          <p:cNvSpPr/>
          <p:nvPr/>
        </p:nvSpPr>
        <p:spPr>
          <a:xfrm>
            <a:off x="6053328" y="3054096"/>
            <a:ext cx="5321808" cy="804672"/>
          </a:xfrm>
          <a:prstGeom prst="roundRect">
            <a:avLst>
              <a:gd name="adj" fmla="val 5682"/>
            </a:avLst>
          </a:prstGeom>
          <a:solidFill>
            <a:srgbClr val="FFFFFF"/>
          </a:solidFill>
          <a:ln w="12700">
            <a:solidFill>
              <a:srgbClr val="D4DAD2"/>
            </a:solidFill>
            <a:prstDash val="solid"/>
          </a:ln>
        </p:spPr>
      </p:sp>
      <p:sp>
        <p:nvSpPr>
          <p:cNvPr id="18" name="Text 16"/>
          <p:cNvSpPr/>
          <p:nvPr/>
        </p:nvSpPr>
        <p:spPr>
          <a:xfrm>
            <a:off x="6217920" y="3163824"/>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TE-XX-000</a:t>
            </a:r>
            <a:endParaRPr lang="en-US" sz="850" dirty="0"/>
          </a:p>
        </p:txBody>
      </p:sp>
      <p:sp>
        <p:nvSpPr>
          <p:cNvPr id="19" name="Text 17"/>
          <p:cNvSpPr/>
          <p:nvPr/>
        </p:nvSpPr>
        <p:spPr>
          <a:xfrm>
            <a:off x="8567928" y="3163824"/>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Review points</a:t>
            </a:r>
            <a:endParaRPr lang="en-US" sz="1150" dirty="0"/>
          </a:p>
        </p:txBody>
      </p:sp>
      <p:sp>
        <p:nvSpPr>
          <p:cNvPr id="20" name="Text 18"/>
          <p:cNvSpPr/>
          <p:nvPr/>
        </p:nvSpPr>
        <p:spPr>
          <a:xfrm>
            <a:off x="6217920" y="3419856"/>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85 rules by family. Ids are permanent and never reused, even when retired.</a:t>
            </a:r>
            <a:endParaRPr lang="en-US" sz="1000" dirty="0"/>
          </a:p>
        </p:txBody>
      </p:sp>
      <p:sp>
        <p:nvSpPr>
          <p:cNvPr id="21" name="Shape 19"/>
          <p:cNvSpPr/>
          <p:nvPr/>
        </p:nvSpPr>
        <p:spPr>
          <a:xfrm>
            <a:off x="566928" y="3986784"/>
            <a:ext cx="5321808" cy="804672"/>
          </a:xfrm>
          <a:prstGeom prst="roundRect">
            <a:avLst>
              <a:gd name="adj" fmla="val 5682"/>
            </a:avLst>
          </a:prstGeom>
          <a:solidFill>
            <a:srgbClr val="FFFFFF"/>
          </a:solidFill>
          <a:ln w="12700">
            <a:solidFill>
              <a:srgbClr val="D4DAD2"/>
            </a:solidFill>
            <a:prstDash val="solid"/>
          </a:ln>
        </p:spPr>
      </p:sp>
      <p:sp>
        <p:nvSpPr>
          <p:cNvPr id="22" name="Text 20"/>
          <p:cNvSpPr/>
          <p:nvPr/>
        </p:nvSpPr>
        <p:spPr>
          <a:xfrm>
            <a:off x="731520" y="4096512"/>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ID-01 ... ID-08</a:t>
            </a:r>
            <a:endParaRPr lang="en-US" sz="850" dirty="0"/>
          </a:p>
        </p:txBody>
      </p:sp>
      <p:sp>
        <p:nvSpPr>
          <p:cNvPr id="23" name="Text 21"/>
          <p:cNvSpPr/>
          <p:nvPr/>
        </p:nvSpPr>
        <p:spPr>
          <a:xfrm>
            <a:off x="3081528" y="4096512"/>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Interpretations</a:t>
            </a:r>
            <a:endParaRPr lang="en-US" sz="1150" dirty="0"/>
          </a:p>
        </p:txBody>
      </p:sp>
      <p:sp>
        <p:nvSpPr>
          <p:cNvPr id="24" name="Text 22"/>
          <p:cNvSpPr/>
          <p:nvPr/>
        </p:nvSpPr>
        <p:spPr>
          <a:xfrm>
            <a:off x="731520" y="4352544"/>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Where the guideline is silent. Each has a default, confirmed per study.</a:t>
            </a:r>
            <a:endParaRPr lang="en-US" sz="1000" dirty="0"/>
          </a:p>
        </p:txBody>
      </p:sp>
      <p:sp>
        <p:nvSpPr>
          <p:cNvPr id="25" name="Shape 23"/>
          <p:cNvSpPr/>
          <p:nvPr/>
        </p:nvSpPr>
        <p:spPr>
          <a:xfrm>
            <a:off x="6053328" y="3986784"/>
            <a:ext cx="5321808" cy="804672"/>
          </a:xfrm>
          <a:prstGeom prst="roundRect">
            <a:avLst>
              <a:gd name="adj" fmla="val 5682"/>
            </a:avLst>
          </a:prstGeom>
          <a:solidFill>
            <a:srgbClr val="FFFFFF"/>
          </a:solidFill>
          <a:ln w="12700">
            <a:solidFill>
              <a:srgbClr val="D4DAD2"/>
            </a:solidFill>
            <a:prstDash val="solid"/>
          </a:ln>
        </p:spPr>
      </p:sp>
      <p:sp>
        <p:nvSpPr>
          <p:cNvPr id="26" name="Text 24"/>
          <p:cNvSpPr/>
          <p:nvPr/>
        </p:nvSpPr>
        <p:spPr>
          <a:xfrm>
            <a:off x="6217920" y="4096512"/>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TEA-CTR-001 / 002</a:t>
            </a:r>
            <a:endParaRPr lang="en-US" sz="850" dirty="0"/>
          </a:p>
        </p:txBody>
      </p:sp>
      <p:sp>
        <p:nvSpPr>
          <p:cNvPr id="27" name="Text 25"/>
          <p:cNvSpPr/>
          <p:nvPr/>
        </p:nvSpPr>
        <p:spPr>
          <a:xfrm>
            <a:off x="8567928" y="4096512"/>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Data contracts</a:t>
            </a:r>
            <a:endParaRPr lang="en-US" sz="1150" dirty="0"/>
          </a:p>
        </p:txBody>
      </p:sp>
      <p:sp>
        <p:nvSpPr>
          <p:cNvPr id="28" name="Text 26"/>
          <p:cNvSpPr/>
          <p:nvPr/>
        </p:nvSpPr>
        <p:spPr>
          <a:xfrm>
            <a:off x="6217920" y="4352544"/>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What goes in, what comes out. Adapters target these, not each other.</a:t>
            </a:r>
            <a:endParaRPr lang="en-US" sz="1000" dirty="0"/>
          </a:p>
        </p:txBody>
      </p:sp>
      <p:sp>
        <p:nvSpPr>
          <p:cNvPr id="29" name="Shape 27"/>
          <p:cNvSpPr/>
          <p:nvPr/>
        </p:nvSpPr>
        <p:spPr>
          <a:xfrm>
            <a:off x="566928" y="4919472"/>
            <a:ext cx="5321808" cy="804672"/>
          </a:xfrm>
          <a:prstGeom prst="roundRect">
            <a:avLst>
              <a:gd name="adj" fmla="val 5682"/>
            </a:avLst>
          </a:prstGeom>
          <a:solidFill>
            <a:srgbClr val="FFFFFF"/>
          </a:solidFill>
          <a:ln w="12700">
            <a:solidFill>
              <a:srgbClr val="D4DAD2"/>
            </a:solidFill>
            <a:prstDash val="solid"/>
          </a:ln>
        </p:spPr>
      </p:sp>
      <p:sp>
        <p:nvSpPr>
          <p:cNvPr id="30" name="Text 28"/>
          <p:cNvSpPr/>
          <p:nvPr/>
        </p:nvSpPr>
        <p:spPr>
          <a:xfrm>
            <a:off x="731520" y="5029200"/>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P-ADJ / P-MATCH / P-NARRATE</a:t>
            </a:r>
            <a:endParaRPr lang="en-US" sz="850" dirty="0"/>
          </a:p>
        </p:txBody>
      </p:sp>
      <p:sp>
        <p:nvSpPr>
          <p:cNvPr id="31" name="Text 29"/>
          <p:cNvSpPr/>
          <p:nvPr/>
        </p:nvSpPr>
        <p:spPr>
          <a:xfrm>
            <a:off x="3081528" y="5029200"/>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Prompt contracts</a:t>
            </a:r>
            <a:endParaRPr lang="en-US" sz="1150" dirty="0"/>
          </a:p>
        </p:txBody>
      </p:sp>
      <p:sp>
        <p:nvSpPr>
          <p:cNvPr id="32" name="Text 30"/>
          <p:cNvSpPr/>
          <p:nvPr/>
        </p:nvSpPr>
        <p:spPr>
          <a:xfrm>
            <a:off x="731520" y="5285232"/>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Every model call, with its required output schema.</a:t>
            </a:r>
            <a:endParaRPr lang="en-US" sz="1000" dirty="0"/>
          </a:p>
        </p:txBody>
      </p:sp>
      <p:sp>
        <p:nvSpPr>
          <p:cNvPr id="33" name="Shape 31"/>
          <p:cNvSpPr/>
          <p:nvPr/>
        </p:nvSpPr>
        <p:spPr>
          <a:xfrm>
            <a:off x="6053328" y="4919472"/>
            <a:ext cx="5321808" cy="804672"/>
          </a:xfrm>
          <a:prstGeom prst="roundRect">
            <a:avLst>
              <a:gd name="adj" fmla="val 5682"/>
            </a:avLst>
          </a:prstGeom>
          <a:solidFill>
            <a:srgbClr val="FFFFFF"/>
          </a:solidFill>
          <a:ln w="12700">
            <a:solidFill>
              <a:srgbClr val="D4DAD2"/>
            </a:solidFill>
            <a:prstDash val="solid"/>
          </a:ln>
        </p:spPr>
      </p:sp>
      <p:sp>
        <p:nvSpPr>
          <p:cNvPr id="34" name="Text 32"/>
          <p:cNvSpPr/>
          <p:nvPr/>
        </p:nvSpPr>
        <p:spPr>
          <a:xfrm>
            <a:off x="6217920" y="5029200"/>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G-01 ... G-07</a:t>
            </a:r>
            <a:endParaRPr lang="en-US" sz="850" dirty="0"/>
          </a:p>
        </p:txBody>
      </p:sp>
      <p:sp>
        <p:nvSpPr>
          <p:cNvPr id="35" name="Text 33"/>
          <p:cNvSpPr/>
          <p:nvPr/>
        </p:nvSpPr>
        <p:spPr>
          <a:xfrm>
            <a:off x="8567928" y="5029200"/>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Guardrails</a:t>
            </a:r>
            <a:endParaRPr lang="en-US" sz="1150" dirty="0"/>
          </a:p>
        </p:txBody>
      </p:sp>
      <p:sp>
        <p:nvSpPr>
          <p:cNvPr id="36" name="Text 34"/>
          <p:cNvSpPr/>
          <p:nvPr/>
        </p:nvSpPr>
        <p:spPr>
          <a:xfrm>
            <a:off x="6217920" y="5285232"/>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What the model is structurally prevented from doing.</a:t>
            </a:r>
            <a:endParaRPr lang="en-US" sz="1000" dirty="0"/>
          </a:p>
        </p:txBody>
      </p:sp>
      <p:sp>
        <p:nvSpPr>
          <p:cNvPr id="37" name="Text 35"/>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8" name="Text 36"/>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IF YOU READ NOTHING ELSE</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Five things that decide whether this works</a:t>
            </a:r>
            <a:endParaRPr lang="en-US" sz="3200" dirty="0"/>
          </a:p>
        </p:txBody>
      </p:sp>
      <p:sp>
        <p:nvSpPr>
          <p:cNvPr id="4" name="Shape 2"/>
          <p:cNvSpPr/>
          <p:nvPr/>
        </p:nvSpPr>
        <p:spPr>
          <a:xfrm>
            <a:off x="566928" y="1700784"/>
            <a:ext cx="384048" cy="384048"/>
          </a:xfrm>
          <a:prstGeom prst="ellipse">
            <a:avLst/>
          </a:prstGeom>
          <a:solidFill>
            <a:srgbClr val="1D4A3A"/>
          </a:solidFill>
          <a:ln w="12700">
            <a:solidFill>
              <a:srgbClr val="1D4A3A"/>
            </a:solidFill>
            <a:prstDash val="solid"/>
          </a:ln>
        </p:spPr>
      </p:sp>
      <p:sp>
        <p:nvSpPr>
          <p:cNvPr id="5" name="Text 3"/>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1</a:t>
            </a:r>
            <a:endParaRPr lang="en-US" sz="1100" dirty="0"/>
          </a:p>
        </p:txBody>
      </p:sp>
      <p:sp>
        <p:nvSpPr>
          <p:cNvPr id="6" name="Text 4"/>
          <p:cNvSpPr/>
          <p:nvPr/>
        </p:nvSpPr>
        <p:spPr>
          <a:xfrm>
            <a:off x="1170432" y="1728216"/>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The deterministic split holds, or it doesn't</a:t>
            </a:r>
            <a:endParaRPr lang="en-US" sz="1500" dirty="0"/>
          </a:p>
        </p:txBody>
      </p:sp>
      <p:sp>
        <p:nvSpPr>
          <p:cNvPr id="7" name="Text 5"/>
          <p:cNvSpPr/>
          <p:nvPr/>
        </p:nvSpPr>
        <p:spPr>
          <a:xfrm>
            <a:off x="1170432" y="2039112"/>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It is what makes local hosting, reproducibility and validation possible at once. Erode it and all three go.</a:t>
            </a:r>
            <a:endParaRPr lang="en-US" sz="1150" dirty="0"/>
          </a:p>
        </p:txBody>
      </p:sp>
      <p:sp>
        <p:nvSpPr>
          <p:cNvPr id="8" name="Shape 6"/>
          <p:cNvSpPr/>
          <p:nvPr/>
        </p:nvSpPr>
        <p:spPr>
          <a:xfrm>
            <a:off x="566928" y="2596896"/>
            <a:ext cx="384048" cy="384048"/>
          </a:xfrm>
          <a:prstGeom prst="ellipse">
            <a:avLst/>
          </a:prstGeom>
          <a:solidFill>
            <a:srgbClr val="1D4A3A"/>
          </a:solidFill>
          <a:ln w="12700">
            <a:solidFill>
              <a:srgbClr val="1D4A3A"/>
            </a:solidFill>
            <a:prstDash val="solid"/>
          </a:ln>
        </p:spPr>
      </p:sp>
      <p:sp>
        <p:nvSpPr>
          <p:cNvPr id="9" name="Text 7"/>
          <p:cNvSpPr/>
          <p:nvPr/>
        </p:nvSpPr>
        <p:spPr>
          <a:xfrm>
            <a:off x="566928" y="25968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2</a:t>
            </a:r>
            <a:endParaRPr lang="en-US" sz="1100" dirty="0"/>
          </a:p>
        </p:txBody>
      </p:sp>
      <p:sp>
        <p:nvSpPr>
          <p:cNvPr id="10" name="Text 8"/>
          <p:cNvSpPr/>
          <p:nvPr/>
        </p:nvSpPr>
        <p:spPr>
          <a:xfrm>
            <a:off x="1170432" y="2624328"/>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Silence is a feature</a:t>
            </a:r>
            <a:endParaRPr lang="en-US" sz="1500" dirty="0"/>
          </a:p>
        </p:txBody>
      </p:sp>
      <p:sp>
        <p:nvSpPr>
          <p:cNvPr id="11" name="Text 9"/>
          <p:cNvSpPr/>
          <p:nvPr/>
        </p:nvSpPr>
        <p:spPr>
          <a:xfrm>
            <a:off x="1170432" y="2935224"/>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 reviewer handed 400 findings reviews none. Deduplication, reconciliation and ranking are load-bearing, not polish.</a:t>
            </a:r>
            <a:endParaRPr lang="en-US" sz="1150" dirty="0"/>
          </a:p>
        </p:txBody>
      </p:sp>
      <p:sp>
        <p:nvSpPr>
          <p:cNvPr id="12" name="Shape 10"/>
          <p:cNvSpPr/>
          <p:nvPr/>
        </p:nvSpPr>
        <p:spPr>
          <a:xfrm>
            <a:off x="566928" y="3493008"/>
            <a:ext cx="384048" cy="384048"/>
          </a:xfrm>
          <a:prstGeom prst="ellipse">
            <a:avLst/>
          </a:prstGeom>
          <a:solidFill>
            <a:srgbClr val="1D4A3A"/>
          </a:solidFill>
          <a:ln w="12700">
            <a:solidFill>
              <a:srgbClr val="1D4A3A"/>
            </a:solidFill>
            <a:prstDash val="solid"/>
          </a:ln>
        </p:spPr>
      </p:sp>
      <p:sp>
        <p:nvSpPr>
          <p:cNvPr id="13" name="Text 11"/>
          <p:cNvSpPr/>
          <p:nvPr/>
        </p:nvSpPr>
        <p:spPr>
          <a:xfrm>
            <a:off x="566928" y="3493008"/>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3</a:t>
            </a:r>
            <a:endParaRPr lang="en-US" sz="1100" dirty="0"/>
          </a:p>
        </p:txBody>
      </p:sp>
      <p:sp>
        <p:nvSpPr>
          <p:cNvPr id="14" name="Text 12"/>
          <p:cNvSpPr/>
          <p:nvPr/>
        </p:nvSpPr>
        <p:spPr>
          <a:xfrm>
            <a:off x="1170432" y="3520440"/>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Confidence must be calibrated, not asserted</a:t>
            </a:r>
            <a:endParaRPr lang="en-US" sz="1500" dirty="0"/>
          </a:p>
        </p:txBody>
      </p:sp>
      <p:sp>
        <p:nvSpPr>
          <p:cNvPr id="15" name="Text 13"/>
          <p:cNvSpPr/>
          <p:nvPr/>
        </p:nvSpPr>
        <p:spPr>
          <a:xfrm>
            <a:off x="1170432" y="3831336"/>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 confidence rate people learn to distrust is worse than none - it invites issuing queries unread.</a:t>
            </a:r>
            <a:endParaRPr lang="en-US" sz="1150" dirty="0"/>
          </a:p>
        </p:txBody>
      </p:sp>
      <p:sp>
        <p:nvSpPr>
          <p:cNvPr id="16" name="Shape 14"/>
          <p:cNvSpPr/>
          <p:nvPr/>
        </p:nvSpPr>
        <p:spPr>
          <a:xfrm>
            <a:off x="566928" y="4389120"/>
            <a:ext cx="384048" cy="384048"/>
          </a:xfrm>
          <a:prstGeom prst="ellipse">
            <a:avLst/>
          </a:prstGeom>
          <a:solidFill>
            <a:srgbClr val="1D4A3A"/>
          </a:solidFill>
          <a:ln w="12700">
            <a:solidFill>
              <a:srgbClr val="1D4A3A"/>
            </a:solidFill>
            <a:prstDash val="solid"/>
          </a:ln>
        </p:spPr>
      </p:sp>
      <p:sp>
        <p:nvSpPr>
          <p:cNvPr id="17" name="Text 15"/>
          <p:cNvSpPr/>
          <p:nvPr/>
        </p:nvSpPr>
        <p:spPr>
          <a:xfrm>
            <a:off x="566928" y="43891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4</a:t>
            </a:r>
            <a:endParaRPr lang="en-US" sz="1100" dirty="0"/>
          </a:p>
        </p:txBody>
      </p:sp>
      <p:sp>
        <p:nvSpPr>
          <p:cNvPr id="18" name="Text 16"/>
          <p:cNvSpPr/>
          <p:nvPr/>
        </p:nvSpPr>
        <p:spPr>
          <a:xfrm>
            <a:off x="1170432" y="4416552"/>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Coverage has to be published</a:t>
            </a:r>
            <a:endParaRPr lang="en-US" sz="1500" dirty="0"/>
          </a:p>
        </p:txBody>
      </p:sp>
      <p:sp>
        <p:nvSpPr>
          <p:cNvPr id="19" name="Text 17"/>
          <p:cNvSpPr/>
          <p:nvPr/>
        </p:nvSpPr>
        <p:spPr>
          <a:xfrm>
            <a:off x="1170432" y="4727448"/>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The danger is assuming the agent checked something it never checked. Every run states what was not evaluated.</a:t>
            </a:r>
            <a:endParaRPr lang="en-US" sz="1150" dirty="0"/>
          </a:p>
        </p:txBody>
      </p:sp>
      <p:sp>
        <p:nvSpPr>
          <p:cNvPr id="20" name="Shape 18"/>
          <p:cNvSpPr/>
          <p:nvPr/>
        </p:nvSpPr>
        <p:spPr>
          <a:xfrm>
            <a:off x="566928" y="5285232"/>
            <a:ext cx="384048" cy="384048"/>
          </a:xfrm>
          <a:prstGeom prst="ellipse">
            <a:avLst/>
          </a:prstGeom>
          <a:solidFill>
            <a:srgbClr val="1D4A3A"/>
          </a:solidFill>
          <a:ln w="12700">
            <a:solidFill>
              <a:srgbClr val="1D4A3A"/>
            </a:solidFill>
            <a:prstDash val="solid"/>
          </a:ln>
        </p:spPr>
      </p:sp>
      <p:sp>
        <p:nvSpPr>
          <p:cNvPr id="21" name="Text 19"/>
          <p:cNvSpPr/>
          <p:nvPr/>
        </p:nvSpPr>
        <p:spPr>
          <a:xfrm>
            <a:off x="566928" y="5285232"/>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5</a:t>
            </a:r>
            <a:endParaRPr lang="en-US" sz="1100" dirty="0"/>
          </a:p>
        </p:txBody>
      </p:sp>
      <p:sp>
        <p:nvSpPr>
          <p:cNvPr id="22" name="Text 20"/>
          <p:cNvSpPr/>
          <p:nvPr/>
        </p:nvSpPr>
        <p:spPr>
          <a:xfrm>
            <a:off x="1170432" y="5312664"/>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The rule pack must stay cheap to change</a:t>
            </a:r>
            <a:endParaRPr lang="en-US" sz="1500" dirty="0"/>
          </a:p>
        </p:txBody>
      </p:sp>
      <p:sp>
        <p:nvSpPr>
          <p:cNvPr id="23" name="Text 21"/>
          <p:cNvSpPr/>
          <p:nvPr/>
        </p:nvSpPr>
        <p:spPr>
          <a:xfrm>
            <a:off x="1170432" y="5623560"/>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Adding a review point is a declarative change with its own tests. The moment it needs engine surgery, the catalog stops growing.</a:t>
            </a:r>
            <a:endParaRPr lang="en-US" sz="1150" dirty="0"/>
          </a:p>
        </p:txBody>
      </p:sp>
      <p:sp>
        <p:nvSpPr>
          <p:cNvPr id="24" name="Text 22"/>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25" name="Text 23"/>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13716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WHERE WE ARE</a:t>
            </a:r>
            <a:endParaRPr lang="en-US" sz="1000" dirty="0"/>
          </a:p>
        </p:txBody>
      </p:sp>
      <p:sp>
        <p:nvSpPr>
          <p:cNvPr id="3" name="Text 1"/>
          <p:cNvSpPr/>
          <p:nvPr/>
        </p:nvSpPr>
        <p:spPr>
          <a:xfrm>
            <a:off x="566928" y="1691640"/>
            <a:ext cx="10058400" cy="7772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Step 2, part-done</a:t>
            </a:r>
            <a:endParaRPr lang="en-US" sz="3800" dirty="0"/>
          </a:p>
        </p:txBody>
      </p:sp>
      <p:sp>
        <p:nvSpPr>
          <p:cNvPr id="4" name="Shape 2"/>
          <p:cNvSpPr/>
          <p:nvPr/>
        </p:nvSpPr>
        <p:spPr>
          <a:xfrm>
            <a:off x="566928" y="2834640"/>
            <a:ext cx="3456432" cy="1691640"/>
          </a:xfrm>
          <a:prstGeom prst="roundRect">
            <a:avLst>
              <a:gd name="adj" fmla="val 2703"/>
            </a:avLst>
          </a:prstGeom>
          <a:solidFill>
            <a:srgbClr val="18452F"/>
          </a:solidFill>
          <a:ln w="12700">
            <a:solidFill>
              <a:srgbClr val="2C5C44"/>
            </a:solidFill>
            <a:prstDash val="solid"/>
          </a:ln>
        </p:spPr>
      </p:sp>
      <p:sp>
        <p:nvSpPr>
          <p:cNvPr id="5" name="Text 3"/>
          <p:cNvSpPr/>
          <p:nvPr/>
        </p:nvSpPr>
        <p:spPr>
          <a:xfrm>
            <a:off x="786384"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RULES SETTLED</a:t>
            </a:r>
            <a:endParaRPr lang="en-US" sz="900" dirty="0"/>
          </a:p>
        </p:txBody>
      </p:sp>
      <p:sp>
        <p:nvSpPr>
          <p:cNvPr id="6" name="Text 4"/>
          <p:cNvSpPr/>
          <p:nvPr/>
        </p:nvSpPr>
        <p:spPr>
          <a:xfrm>
            <a:off x="786384"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All 85 rules dispositioned over two rounds. Logic, severities and confidence base rates confirmed; 2 rules retired.</a:t>
            </a:r>
            <a:endParaRPr lang="en-US" sz="1200" dirty="0"/>
          </a:p>
        </p:txBody>
      </p:sp>
      <p:sp>
        <p:nvSpPr>
          <p:cNvPr id="7" name="Shape 5"/>
          <p:cNvSpPr/>
          <p:nvPr/>
        </p:nvSpPr>
        <p:spPr>
          <a:xfrm>
            <a:off x="4251960" y="2834640"/>
            <a:ext cx="3456432" cy="1691640"/>
          </a:xfrm>
          <a:prstGeom prst="roundRect">
            <a:avLst>
              <a:gd name="adj" fmla="val 2703"/>
            </a:avLst>
          </a:prstGeom>
          <a:solidFill>
            <a:srgbClr val="18452F"/>
          </a:solidFill>
          <a:ln w="12700">
            <a:solidFill>
              <a:srgbClr val="2C5C44"/>
            </a:solidFill>
            <a:prstDash val="solid"/>
          </a:ln>
        </p:spPr>
      </p:sp>
      <p:sp>
        <p:nvSpPr>
          <p:cNvPr id="8" name="Text 6"/>
          <p:cNvSpPr/>
          <p:nvPr/>
        </p:nvSpPr>
        <p:spPr>
          <a:xfrm>
            <a:off x="4471416"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OPEN NOW</a:t>
            </a:r>
            <a:endParaRPr lang="en-US" sz="900" dirty="0"/>
          </a:p>
        </p:txBody>
      </p:sp>
      <p:sp>
        <p:nvSpPr>
          <p:cNvPr id="9" name="Text 7"/>
          <p:cNvSpPr/>
          <p:nvPr/>
        </p:nvSpPr>
        <p:spPr>
          <a:xfrm>
            <a:off x="4471416"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Rule_Messages - the query wording a site actually reads. Reviewed on its own, by people who talk to sites.</a:t>
            </a:r>
            <a:endParaRPr lang="en-US" sz="1200" dirty="0"/>
          </a:p>
        </p:txBody>
      </p:sp>
      <p:sp>
        <p:nvSpPr>
          <p:cNvPr id="10" name="Shape 8"/>
          <p:cNvSpPr/>
          <p:nvPr/>
        </p:nvSpPr>
        <p:spPr>
          <a:xfrm>
            <a:off x="7936992" y="2834640"/>
            <a:ext cx="3456432" cy="1691640"/>
          </a:xfrm>
          <a:prstGeom prst="roundRect">
            <a:avLst>
              <a:gd name="adj" fmla="val 2703"/>
            </a:avLst>
          </a:prstGeom>
          <a:solidFill>
            <a:srgbClr val="18452F"/>
          </a:solidFill>
          <a:ln w="12700">
            <a:solidFill>
              <a:srgbClr val="2C5C44"/>
            </a:solidFill>
            <a:prstDash val="solid"/>
          </a:ln>
        </p:spPr>
      </p:sp>
      <p:sp>
        <p:nvSpPr>
          <p:cNvPr id="11" name="Text 9"/>
          <p:cNvSpPr/>
          <p:nvPr/>
        </p:nvSpPr>
        <p:spPr>
          <a:xfrm>
            <a:off x="8156448"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THEN</a:t>
            </a:r>
            <a:endParaRPr lang="en-US" sz="900" dirty="0"/>
          </a:p>
        </p:txBody>
      </p:sp>
      <p:sp>
        <p:nvSpPr>
          <p:cNvPr id="12" name="Text 10"/>
          <p:cNvSpPr/>
          <p:nvPr/>
        </p:nvSpPr>
        <p:spPr>
          <a:xfrm>
            <a:off x="8156448"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The rule pack freezes and Step 3 begins: prototype output on a curated dummy dataset.</a:t>
            </a:r>
            <a:endParaRPr lang="en-US" sz="1200" dirty="0"/>
          </a:p>
        </p:txBody>
      </p:sp>
      <p:sp>
        <p:nvSpPr>
          <p:cNvPr id="13" name="Text 11"/>
          <p:cNvSpPr/>
          <p:nvPr/>
        </p:nvSpPr>
        <p:spPr>
          <a:xfrm>
            <a:off x="566928" y="5029200"/>
            <a:ext cx="10058400" cy="640080"/>
          </a:xfrm>
          <a:prstGeom prst="rect">
            <a:avLst/>
          </a:prstGeom>
          <a:noFill/>
          <a:ln/>
        </p:spPr>
        <p:txBody>
          <a:bodyPr wrap="square" lIns="0" tIns="0" rIns="0" bIns="0" rtlCol="0" anchor="t"/>
          <a:lstStyle/>
          <a:p>
            <a:pPr indent="0" marL="0">
              <a:lnSpc>
                <a:spcPts val="1700"/>
              </a:lnSpc>
              <a:buNone/>
            </a:pPr>
            <a:r>
              <a:rPr lang="en-US" sz="1200" dirty="0">
                <a:solidFill>
                  <a:srgbClr val="9FB3A6"/>
                </a:solidFill>
                <a:latin typeface="Calibri" pitchFamily="34" charset="0"/>
                <a:ea typeface="Calibri" pitchFamily="34" charset="-122"/>
                <a:cs typeface="Calibri" pitchFamily="34" charset="-120"/>
              </a:rPr>
              <a:t>This overview is derived from the controlled documents and carries no independent authority.</a:t>
            </a:r>
            <a:endParaRPr lang="en-US" sz="1200" dirty="0"/>
          </a:p>
          <a:p>
            <a:pPr indent="0" marL="0">
              <a:lnSpc>
                <a:spcPts val="1700"/>
              </a:lnSpc>
              <a:buNone/>
            </a:pPr>
            <a:r>
              <a:rPr lang="en-US" sz="1200" dirty="0">
                <a:solidFill>
                  <a:srgbClr val="9FB3A6"/>
                </a:solidFill>
                <a:latin typeface="Calibri" pitchFamily="34" charset="0"/>
                <a:ea typeface="Calibri" pitchFamily="34" charset="-122"/>
                <a:cs typeface="Calibri" pitchFamily="34" charset="-120"/>
              </a:rPr>
              <a:t>Where it disagrees with TEA-PLAN-001 or TEA-SPEC-001, those documents win.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Tumor Evaluation Review Agent - Concept Overview</dc:title>
  <dc:subject>PptxGenJS Presentation</dc:subject>
  <dc:creator>Clinical Programming</dc:creator>
  <cp:lastModifiedBy>Clinical Programming</cp:lastModifiedBy>
  <cp:revision>1</cp:revision>
  <dcterms:created xsi:type="dcterms:W3CDTF">2026-08-23T03:43:39Z</dcterms:created>
  <dcterms:modified xsi:type="dcterms:W3CDTF">2026-08-23T03:43:39Z</dcterms:modified>
</cp:coreProperties>
</file>