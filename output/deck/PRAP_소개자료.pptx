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문장으로: 여러 과제가 동시에 돌아갈 때 사람별 부담을 월 단위로 미리 보는 도구입니다.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데이터는 엑셀 파일에 그대로 남습니다. 앱은 그 파일을 읽어 보여줄 뿐이고, 원본은 늘 손에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두 질문이 개발의 출발점이었고, 개발계획서에 그대로 적혀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교육이 거의 필요 없다는 점이 중요합니다. 양식은 예시 파일과 함께 제공됩니다.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그래프 하나로 '언제 몰리는가'와 '무엇 때문인가'를 동시에 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핵심은 '사람을 더 넣는다고 과제가 필요로 하는 양이 늘지 않는다'는 점입니다. 나누는 방식만 달라집니다.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가지 모두 사람이 찾아내야 했던 것들입니다. 이제 파일을 열면 앱이 먼저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요지는 'AI가 빨리 만든다'가 아니라 '틀린 채로 넘어가지 못하게 했다'입니다.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기대효과는 '기대'입니다. 수작업 대비 절감 시간은 아직 측정하지 않았으므로 숫자로 말하지 않았습니다.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모두 실제 화면입니다. 예시 데이터는 62개 과제·20명 기준입니다.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2.png"/><Relationship Id="rId5" Type="http://schemas.openxmlformats.org/officeDocument/2006/relationships/image" Target="../media/image-4-5.png"/><Relationship Id="rId6" Type="http://schemas.openxmlformats.org/officeDocument/2006/relationships/image" Target="../media/image-4-2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2.png"/><Relationship Id="rId5" Type="http://schemas.openxmlformats.org/officeDocument/2006/relationships/image" Target="../media/image-8-5.png"/><Relationship Id="rId6" Type="http://schemas.openxmlformats.org/officeDocument/2006/relationships/image" Target="../media/image-8-2.png"/><Relationship Id="rId7" Type="http://schemas.openxmlformats.org/officeDocument/2006/relationships/image" Target="../media/image-8-7.png"/><Relationship Id="rId8" Type="http://schemas.openxmlformats.org/officeDocument/2006/relationships/image" Target="../media/image-8-3.png"/><Relationship Id="rId9" Type="http://schemas.openxmlformats.org/officeDocument/2006/relationships/image" Target="../media/image-8-3.png"/><Relationship Id="rId10" Type="http://schemas.openxmlformats.org/officeDocument/2006/relationships/image" Target="../media/image-8-3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image" Target="../media/image-9-5.png"/><Relationship Id="rId6" Type="http://schemas.openxmlformats.org/officeDocument/2006/relationships/image" Target="../media/image-9-5.png"/><Relationship Id="rId7" Type="http://schemas.openxmlformats.org/officeDocument/2006/relationships/image" Target="../media/image-9-5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-2011680"/>
            <a:ext cx="6583680" cy="6583680"/>
          </a:xfrm>
          <a:prstGeom prst="ellipse">
            <a:avLst/>
          </a:prstGeom>
          <a:solidFill>
            <a:srgbClr val="028090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2926080"/>
            <a:ext cx="4023360" cy="4023360"/>
          </a:xfrm>
          <a:prstGeom prst="ellipse">
            <a:avLst/>
          </a:prstGeom>
          <a:solidFill>
            <a:srgbClr val="02C39A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AI 활용 · 개발 사례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773936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PRAP</a:t>
            </a:r>
            <a:endParaRPr lang="en-US" sz="7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871216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임상 과제가 동시에 돌아갈 때,</a:t>
            </a:r>
            <a:endParaRPr lang="en-US" sz="2000" dirty="0"/>
          </a:p>
          <a:p>
            <a:pPr indent="0" marL="0">
              <a:lnSpc>
                <a:spcPts val="33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언제 얼마나 일하게 되는지 미리 보는 도구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66928" y="4224528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0" descr="/home/user/project1/output/deck/icons/calendar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310" y="4352910"/>
            <a:ext cx="218724" cy="21872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70432" y="422452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4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단위로 앞을 본다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081528" y="4224528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/home/user/project1/output/deck/icons/users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910" y="4352910"/>
            <a:ext cx="218724" cy="21872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85032" y="422452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4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사람별로 합쳐서 본다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596128" y="4224528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2" descr="/home/user/project1/output/deck/icons/lock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510" y="4352910"/>
            <a:ext cx="218724" cy="21872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199632" y="422452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4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안에서만 돈다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566928" y="5138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기간 2026-06-01 ~ 2026-09-15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3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장으로 보는 PRAP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3456432" cy="2670048"/>
          </a:xfrm>
          <a:prstGeom prst="roundRect">
            <a:avLst>
              <a:gd name="adj" fmla="val 3082"/>
            </a:avLst>
          </a:prstGeom>
          <a:solidFill>
            <a:srgbClr val="F5FAFB"/>
          </a:solidFill>
          <a:ln w="9525">
            <a:solidFill>
              <a:srgbClr val="D2E2E5"/>
            </a:solidFill>
            <a:prstDash val="solid"/>
          </a:ln>
          <a:effectLst>
            <a:outerShdw sx="100000" sy="100000" kx="0" ky="0" algn="bl" rotWithShape="0" blurRad="203200" dist="38100" dir="5400000">
              <a:srgbClr val="0B3C44">
                <a:alpha val="11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10512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user/project1/output/deck/icons/help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805" y="1958645"/>
            <a:ext cx="252374" cy="2523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810512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도구인가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87168"/>
            <a:ext cx="294436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234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과제별 계획을 엑셀 한 파일에 적어두면,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234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앞으로 몇 달 동안 누가 얼마나 바쁠지를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234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표와 그래프로 보여준다.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234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설치가 필요 없고, 파일을 두 번 눌러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234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여는 것으로 시작한다.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79392" y="1572768"/>
            <a:ext cx="3456432" cy="2670048"/>
          </a:xfrm>
          <a:prstGeom prst="roundRect">
            <a:avLst>
              <a:gd name="adj" fmla="val 3082"/>
            </a:avLst>
          </a:prstGeom>
          <a:solidFill>
            <a:srgbClr val="F5FAFB"/>
          </a:solidFill>
          <a:ln w="9525">
            <a:solidFill>
              <a:srgbClr val="D2E2E5"/>
            </a:solidFill>
            <a:prstDash val="solid"/>
          </a:ln>
          <a:effectLst>
            <a:outerShdw sx="100000" sy="100000" kx="0" ky="0" algn="bl" rotWithShape="0" blurRad="203200" dist="38100" dir="5400000">
              <a:srgbClr val="0B3C44">
                <a:alpha val="11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17136" y="1810512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/home/user/project1/output/deck/icons/target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5269" y="1958645"/>
            <a:ext cx="252374" cy="25237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75504" y="1810512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 쓰나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535424" y="2487168"/>
            <a:ext cx="294436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234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분기 인력 계획 수립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234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신규 과제를 받을 여력 판단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234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일정이 밀렸을 때 영향 확인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234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특정 인력의 부담 점검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234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과제별 투입 근거 설명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991856" y="1572768"/>
            <a:ext cx="3456432" cy="2670048"/>
          </a:xfrm>
          <a:prstGeom prst="roundRect">
            <a:avLst>
              <a:gd name="adj" fmla="val 3082"/>
            </a:avLst>
          </a:prstGeom>
          <a:solidFill>
            <a:srgbClr val="F5FAFB"/>
          </a:solidFill>
          <a:ln w="9525">
            <a:solidFill>
              <a:srgbClr val="D2E2E5"/>
            </a:solidFill>
            <a:prstDash val="solid"/>
          </a:ln>
          <a:effectLst>
            <a:outerShdw sx="100000" sy="100000" kx="0" ky="0" algn="bl" rotWithShape="0" blurRad="203200" dist="38100" dir="5400000">
              <a:srgbClr val="0B3C44">
                <a:alpha val="11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0" y="1810512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6" name="Image 2" descr="/home/user/project1/output/deck/icons/zap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733" y="1958645"/>
            <a:ext cx="252374" cy="25237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887968" y="1810512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달라지나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247888" y="2487168"/>
            <a:ext cx="294436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234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과제에 흩어져 있던 숫자를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234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 기준으로 합쳐서 본다.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234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문제가 생긴 뒤가 아니라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234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생기기 전에 보인다.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66928" y="4443984"/>
            <a:ext cx="11055096" cy="1517904"/>
          </a:xfrm>
          <a:prstGeom prst="roundRect">
            <a:avLst>
              <a:gd name="adj" fmla="val 5422"/>
            </a:avLst>
          </a:prstGeom>
          <a:solidFill>
            <a:srgbClr val="EAF4F5"/>
          </a:solidFill>
          <a:ln w="9525">
            <a:solidFill>
              <a:srgbClr val="D2E2E5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877824" y="46268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쓰는 사람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877824" y="4956048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/home/user/project1/output/deck/icons/users_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455" y="5064679"/>
            <a:ext cx="185075" cy="18507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389888" y="493776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리소스 담당자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1389888" y="5175504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34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매월 배정 현황을 보고 다음 분기를 계획한다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462272" y="4956048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/home/user/project1/output/deck/icons/bar_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0903" y="5064679"/>
            <a:ext cx="185075" cy="18507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974336" y="493776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리더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4974336" y="5175504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34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 과제가 필요한 만큼 인력을 받고 있는지 본다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046720" y="4956048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5" descr="/home/user/project1/output/deck/icons/book_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5351" y="5064679"/>
            <a:ext cx="185075" cy="185075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558784" y="493776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</a:t>
            </a:r>
            <a:endParaRPr lang="en-US" sz="1200" dirty="0"/>
          </a:p>
        </p:txBody>
      </p:sp>
      <p:sp>
        <p:nvSpPr>
          <p:cNvPr id="32" name="Text 24"/>
          <p:cNvSpPr txBox="1"/>
          <p:nvPr/>
        </p:nvSpPr>
        <p:spPr>
          <a:xfrm>
            <a:off x="8558784" y="5175504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34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포트폴리오 전체의 인력 부담을 한눈에 확인한다</a:t>
            </a:r>
            <a:endParaRPr lang="en-US" sz="1000" dirty="0"/>
          </a:p>
        </p:txBody>
      </p:sp>
      <p:sp>
        <p:nvSpPr>
          <p:cNvPr id="33" name="Text 25"/>
          <p:cNvSpPr txBox="1"/>
          <p:nvPr/>
        </p:nvSpPr>
        <p:spPr>
          <a:xfrm>
            <a:off x="566928" y="636422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B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PRAP · 임상 과제 인력 배정 시뮬레이터</a:t>
            </a:r>
            <a:endParaRPr lang="en-US" sz="900" dirty="0"/>
          </a:p>
        </p:txBody>
      </p:sp>
      <p:sp>
        <p:nvSpPr>
          <p:cNvPr id="34" name="Text 26"/>
          <p:cNvSpPr txBox="1"/>
          <p:nvPr/>
        </p:nvSpPr>
        <p:spPr>
          <a:xfrm>
            <a:off x="11076127" y="636422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B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배경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3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필요했나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25296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B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이전에는 과제별로 표가 따로 있었고, 사람 기준으로 합친 그림이 없었다.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755648"/>
            <a:ext cx="5943600" cy="1115568"/>
          </a:xfrm>
          <a:prstGeom prst="roundRect">
            <a:avLst>
              <a:gd name="adj" fmla="val 7377"/>
            </a:avLst>
          </a:prstGeom>
          <a:solidFill>
            <a:srgbClr val="FBEDE7"/>
          </a:solidFill>
          <a:ln w="9525">
            <a:solidFill>
              <a:srgbClr val="D2E2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029968"/>
            <a:ext cx="548640" cy="548640"/>
          </a:xfrm>
          <a:prstGeom prst="ellipse">
            <a:avLst/>
          </a:prstGeom>
          <a:solidFill>
            <a:srgbClr val="C2603F"/>
          </a:solidFill>
          <a:ln/>
        </p:spPr>
      </p:sp>
      <p:pic>
        <p:nvPicPr>
          <p:cNvPr id="7" name="Image 0" descr="/home/user/project1/output/deck/icons/layers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805" y="2178101"/>
            <a:ext cx="252374" cy="25237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81328" y="1920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3A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과제는 겹쳐서 돌아간다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481328" y="2212848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A3A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사람이 여러 과제에 동시에 들어간다.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A3A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표만 봐서는 겹치는 구간이 보이지 않는다.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66928" y="3072384"/>
            <a:ext cx="5943600" cy="1115568"/>
          </a:xfrm>
          <a:prstGeom prst="roundRect">
            <a:avLst>
              <a:gd name="adj" fmla="val 7377"/>
            </a:avLst>
          </a:prstGeom>
          <a:solidFill>
            <a:srgbClr val="FBEDE7"/>
          </a:solidFill>
          <a:ln w="9525">
            <a:solidFill>
              <a:srgbClr val="D2E2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4672" y="3346704"/>
            <a:ext cx="548640" cy="548640"/>
          </a:xfrm>
          <a:prstGeom prst="ellipse">
            <a:avLst/>
          </a:prstGeom>
          <a:solidFill>
            <a:srgbClr val="C2603F"/>
          </a:solidFill>
          <a:ln/>
        </p:spPr>
      </p:sp>
      <p:pic>
        <p:nvPicPr>
          <p:cNvPr id="12" name="Image 1" descr="/home/user/project1/output/deck/icons/trending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805" y="3494837"/>
            <a:ext cx="252374" cy="25237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81328" y="323697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3A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부담이 일정하지 않다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1481328" y="3529584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A3A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과제라도 준비 기간과 진행 기간의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A3A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부담이 다르고, 역할마다 또 다르다.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66928" y="4389120"/>
            <a:ext cx="5943600" cy="1115568"/>
          </a:xfrm>
          <a:prstGeom prst="roundRect">
            <a:avLst>
              <a:gd name="adj" fmla="val 7377"/>
            </a:avLst>
          </a:prstGeom>
          <a:solidFill>
            <a:srgbClr val="FBEDE7"/>
          </a:solidFill>
          <a:ln w="9525">
            <a:solidFill>
              <a:srgbClr val="D2E2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04672" y="4663440"/>
            <a:ext cx="548640" cy="548640"/>
          </a:xfrm>
          <a:prstGeom prst="ellipse">
            <a:avLst/>
          </a:prstGeom>
          <a:solidFill>
            <a:srgbClr val="C2603F"/>
          </a:solidFill>
          <a:ln/>
        </p:spPr>
      </p:sp>
      <p:pic>
        <p:nvPicPr>
          <p:cNvPr id="17" name="Image 2" descr="/home/user/project1/output/deck/icons/refresh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805" y="4811573"/>
            <a:ext cx="252374" cy="25237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81328" y="45537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3A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일정은 자주 바뀐다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1481328" y="4846320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A3A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 만든 배정표는 금방 현실과 어긋나고,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A3A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만드는 데 또 시간이 든다.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876288" y="1755648"/>
            <a:ext cx="4736592" cy="3968496"/>
          </a:xfrm>
          <a:prstGeom prst="roundRect">
            <a:avLst>
              <a:gd name="adj" fmla="val 2074"/>
            </a:avLst>
          </a:prstGeom>
          <a:solidFill>
            <a:srgbClr val="0B3C44"/>
          </a:solidFill>
          <a:ln w="12700">
            <a:solidFill>
              <a:srgbClr val="0B3C44"/>
            </a:solidFill>
            <a:prstDash val="solid"/>
          </a:ln>
          <a:effectLst>
            <a:outerShdw sx="100000" sy="100000" kx="0" ky="0" algn="bl" rotWithShape="0" blurRad="203200" dist="38100" dir="5400000">
              <a:srgbClr val="0B3C44">
                <a:alpha val="11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187184" y="2048256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3" descr="/home/user/project1/output/deck/icons/search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5441" y="2186513"/>
            <a:ext cx="235549" cy="235549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827264" y="2048256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답하기 어려웠던 두 가지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7187184" y="2798064"/>
            <a:ext cx="4114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“다음 분기에 누가 과부하이고,</a:t>
            </a:r>
            <a:endParaRPr lang="en-US" sz="15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과제 때문인가?”</a:t>
            </a:r>
            <a:endParaRPr lang="en-US" sz="1550" dirty="0"/>
          </a:p>
        </p:txBody>
      </p:sp>
      <p:sp>
        <p:nvSpPr>
          <p:cNvPr id="25" name="Shape 19"/>
          <p:cNvSpPr/>
          <p:nvPr/>
        </p:nvSpPr>
        <p:spPr>
          <a:xfrm>
            <a:off x="7187184" y="3712464"/>
            <a:ext cx="4114800" cy="0"/>
          </a:xfrm>
          <a:prstGeom prst="line">
            <a:avLst/>
          </a:prstGeom>
          <a:noFill/>
          <a:ln w="12700">
            <a:solidFill>
              <a:srgbClr val="1D5760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7187184" y="384048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잘 드러나지 않는 쪽 —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7187184" y="4114800"/>
            <a:ext cx="4114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“몇 달째 여유가 있는 사람은</a:t>
            </a:r>
            <a:endParaRPr lang="en-US" sz="15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누구인가?”</a:t>
            </a:r>
            <a:endParaRPr lang="en-US" sz="1550" dirty="0"/>
          </a:p>
        </p:txBody>
      </p:sp>
      <p:sp>
        <p:nvSpPr>
          <p:cNvPr id="28" name="Text 22"/>
          <p:cNvSpPr txBox="1"/>
          <p:nvPr/>
        </p:nvSpPr>
        <p:spPr>
          <a:xfrm>
            <a:off x="7187184" y="5120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AF4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 다 사람 기준으로 합쳐야 답이 나오는 질문이다.</a:t>
            </a:r>
            <a:endParaRPr lang="en-US" sz="1050" dirty="0"/>
          </a:p>
        </p:txBody>
      </p:sp>
      <p:sp>
        <p:nvSpPr>
          <p:cNvPr id="29" name="Text 23"/>
          <p:cNvSpPr txBox="1"/>
          <p:nvPr/>
        </p:nvSpPr>
        <p:spPr>
          <a:xfrm>
            <a:off x="566928" y="636422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B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PRAP · 임상 과제 인력 배정 시뮬레이터</a:t>
            </a:r>
            <a:endParaRPr lang="en-US" sz="900" dirty="0"/>
          </a:p>
        </p:txBody>
      </p:sp>
      <p:sp>
        <p:nvSpPr>
          <p:cNvPr id="30" name="Text 24"/>
          <p:cNvSpPr txBox="1"/>
          <p:nvPr/>
        </p:nvSpPr>
        <p:spPr>
          <a:xfrm>
            <a:off x="11076127" y="636422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B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방법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3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쓰는 순서는 네 단계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25296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B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엑셀을 쓸 줄 알면 별도 교육 없이 쓸 수 있도록 만들었다.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773936"/>
            <a:ext cx="2670048" cy="2286000"/>
          </a:xfrm>
          <a:prstGeom prst="roundRect">
            <a:avLst>
              <a:gd name="adj" fmla="val 3600"/>
            </a:avLst>
          </a:prstGeom>
          <a:solidFill>
            <a:srgbClr val="F5FAFB"/>
          </a:solidFill>
          <a:ln w="9525">
            <a:solidFill>
              <a:srgbClr val="D2E2E5"/>
            </a:solidFill>
            <a:prstDash val="solid"/>
          </a:ln>
          <a:effectLst>
            <a:outerShdw sx="100000" sy="100000" kx="0" ky="0" algn="bl" rotWithShape="0" blurRad="203200" dist="38100" dir="5400000">
              <a:srgbClr val="0B3C44">
                <a:alpha val="11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72768" y="2011680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user/project1/output/deck/icons/edit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0527" y="2189439"/>
            <a:ext cx="302849" cy="30284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94944" y="2798064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3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계획을 적는다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163824"/>
            <a:ext cx="23408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34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과제·기간·투입 인력을 엑셀 한 파일에 적는다.</a:t>
            </a:r>
            <a:endParaRPr lang="en-US" sz="10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34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양식은 앱과 함께 제공된다.</a:t>
            </a:r>
            <a:endParaRPr lang="en-US" sz="1050" dirty="0"/>
          </a:p>
        </p:txBody>
      </p:sp>
      <p:pic>
        <p:nvPicPr>
          <p:cNvPr id="10" name="Image 1" descr="/home/user/project1/output/deck/icons/arrow_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2743200"/>
            <a:ext cx="128016" cy="12801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383280" y="1773936"/>
            <a:ext cx="2670048" cy="2286000"/>
          </a:xfrm>
          <a:prstGeom prst="roundRect">
            <a:avLst>
              <a:gd name="adj" fmla="val 3600"/>
            </a:avLst>
          </a:prstGeom>
          <a:solidFill>
            <a:srgbClr val="F5FAFB"/>
          </a:solidFill>
          <a:ln w="9525">
            <a:solidFill>
              <a:srgbClr val="D2E2E5"/>
            </a:solidFill>
            <a:prstDash val="solid"/>
          </a:ln>
          <a:effectLst>
            <a:outerShdw sx="100000" sy="100000" kx="0" ky="0" algn="bl" rotWithShape="0" blurRad="203200" dist="38100" dir="5400000">
              <a:srgbClr val="0B3C44">
                <a:alpha val="11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389120" y="2011680"/>
            <a:ext cx="658368" cy="65836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3" name="Image 2" descr="/home/user/project1/output/deck/icons/upload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6879" y="2189439"/>
            <a:ext cx="302849" cy="302849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511296" y="2798064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3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파일을 연다</a:t>
            </a:r>
            <a:endParaRPr lang="en-US" sz="1350" dirty="0"/>
          </a:p>
        </p:txBody>
      </p:sp>
      <p:sp>
        <p:nvSpPr>
          <p:cNvPr id="15" name="Text 10"/>
          <p:cNvSpPr txBox="1"/>
          <p:nvPr/>
        </p:nvSpPr>
        <p:spPr>
          <a:xfrm>
            <a:off x="3547872" y="3163824"/>
            <a:ext cx="23408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34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앱에 파일을 끌어다 놓는다.</a:t>
            </a:r>
            <a:endParaRPr lang="en-US" sz="10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34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잘못된 값이 있으면 한 번에 모두 알려준다.</a:t>
            </a:r>
            <a:endParaRPr lang="en-US" sz="1050" dirty="0"/>
          </a:p>
        </p:txBody>
      </p:sp>
      <p:pic>
        <p:nvPicPr>
          <p:cNvPr id="16" name="Image 3" descr="/home/user/project1/output/deck/icons/arrow_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2472" y="2743200"/>
            <a:ext cx="128016" cy="128016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199632" y="1773936"/>
            <a:ext cx="2670048" cy="2286000"/>
          </a:xfrm>
          <a:prstGeom prst="roundRect">
            <a:avLst>
              <a:gd name="adj" fmla="val 3600"/>
            </a:avLst>
          </a:prstGeom>
          <a:solidFill>
            <a:srgbClr val="F5FAFB"/>
          </a:solidFill>
          <a:ln w="9525">
            <a:solidFill>
              <a:srgbClr val="D2E2E5"/>
            </a:solidFill>
            <a:prstDash val="solid"/>
          </a:ln>
          <a:effectLst>
            <a:outerShdw sx="100000" sy="100000" kx="0" ky="0" algn="bl" rotWithShape="0" blurRad="203200" dist="38100" dir="5400000">
              <a:srgbClr val="0B3C44">
                <a:alpha val="11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7205472" y="2011680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9" name="Image 4" descr="/home/user/project1/output/deck/icons/eye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3231" y="2189439"/>
            <a:ext cx="302849" cy="302849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327648" y="2798064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3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화면에서 본다</a:t>
            </a:r>
            <a:endParaRPr lang="en-US" sz="1350" dirty="0"/>
          </a:p>
        </p:txBody>
      </p:sp>
      <p:sp>
        <p:nvSpPr>
          <p:cNvPr id="21" name="Text 14"/>
          <p:cNvSpPr txBox="1"/>
          <p:nvPr/>
        </p:nvSpPr>
        <p:spPr>
          <a:xfrm>
            <a:off x="6364224" y="3163824"/>
            <a:ext cx="23408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34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과제별·사람별 월 단위 투입량을</a:t>
            </a:r>
            <a:endParaRPr lang="en-US" sz="10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34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표와 그래프로 확인한다.</a:t>
            </a:r>
            <a:endParaRPr lang="en-US" sz="1050" dirty="0"/>
          </a:p>
        </p:txBody>
      </p:sp>
      <p:pic>
        <p:nvPicPr>
          <p:cNvPr id="22" name="Image 5" descr="/home/user/project1/output/deck/icons/arrow_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8824" y="2743200"/>
            <a:ext cx="128016" cy="128016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9015984" y="1773936"/>
            <a:ext cx="2670048" cy="2286000"/>
          </a:xfrm>
          <a:prstGeom prst="roundRect">
            <a:avLst>
              <a:gd name="adj" fmla="val 3600"/>
            </a:avLst>
          </a:prstGeom>
          <a:solidFill>
            <a:srgbClr val="F5FAFB"/>
          </a:solidFill>
          <a:ln w="9525">
            <a:solidFill>
              <a:srgbClr val="D2E2E5"/>
            </a:solidFill>
            <a:prstDash val="solid"/>
          </a:ln>
          <a:effectLst>
            <a:outerShdw sx="100000" sy="100000" kx="0" ky="0" algn="bl" rotWithShape="0" blurRad="203200" dist="38100" dir="5400000">
              <a:srgbClr val="0B3C44">
                <a:alpha val="11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10021824" y="2011680"/>
            <a:ext cx="658368" cy="65836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5" name="Image 6" descr="/home/user/project1/output/deck/icons/download_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9583" y="2189439"/>
            <a:ext cx="302849" cy="302849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9144000" y="2798064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3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조정하고 내보낸다</a:t>
            </a:r>
            <a:endParaRPr lang="en-US" sz="1350" dirty="0"/>
          </a:p>
        </p:txBody>
      </p:sp>
      <p:sp>
        <p:nvSpPr>
          <p:cNvPr id="27" name="Text 18"/>
          <p:cNvSpPr txBox="1"/>
          <p:nvPr/>
        </p:nvSpPr>
        <p:spPr>
          <a:xfrm>
            <a:off x="9180576" y="3163824"/>
            <a:ext cx="23408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34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바로 고치고 저장하면</a:t>
            </a:r>
            <a:endParaRPr lang="en-US" sz="10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34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양식의 엑셀로 나온다.</a:t>
            </a:r>
            <a:endParaRPr lang="en-US" sz="1050" dirty="0"/>
          </a:p>
        </p:txBody>
      </p:sp>
      <p:sp>
        <p:nvSpPr>
          <p:cNvPr id="28" name="Shape 19"/>
          <p:cNvSpPr/>
          <p:nvPr/>
        </p:nvSpPr>
        <p:spPr>
          <a:xfrm>
            <a:off x="566928" y="4279392"/>
            <a:ext cx="11055096" cy="1481328"/>
          </a:xfrm>
          <a:prstGeom prst="roundRect">
            <a:avLst>
              <a:gd name="adj" fmla="val 5556"/>
            </a:avLst>
          </a:prstGeom>
          <a:solidFill>
            <a:srgbClr val="EAF4F5"/>
          </a:solidFill>
          <a:ln w="9525">
            <a:solidFill>
              <a:srgbClr val="D2E2E5"/>
            </a:solidFill>
            <a:prstDash val="solid"/>
          </a:ln>
        </p:spPr>
      </p:sp>
      <p:sp>
        <p:nvSpPr>
          <p:cNvPr id="29" name="Shape 20"/>
          <p:cNvSpPr/>
          <p:nvPr/>
        </p:nvSpPr>
        <p:spPr>
          <a:xfrm>
            <a:off x="841248" y="4535424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7" descr="/home/user/project1/output/deck/icons/lock_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4816" y="4648992"/>
            <a:ext cx="193487" cy="193487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1371600" y="45171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 PC 안에서만</a:t>
            </a:r>
            <a:endParaRPr lang="en-US" sz="1200" dirty="0"/>
          </a:p>
        </p:txBody>
      </p:sp>
      <p:sp>
        <p:nvSpPr>
          <p:cNvPr id="32" name="Text 22"/>
          <p:cNvSpPr txBox="1"/>
          <p:nvPr/>
        </p:nvSpPr>
        <p:spPr>
          <a:xfrm>
            <a:off x="1371600" y="4773168"/>
            <a:ext cx="2999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34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설치·서버·인터넷 없이 파일 하나로 돈다. 자료가 밖으로 나가지 않는다.</a:t>
            </a:r>
            <a:endParaRPr lang="en-US" sz="1000" dirty="0"/>
          </a:p>
        </p:txBody>
      </p:sp>
      <p:sp>
        <p:nvSpPr>
          <p:cNvPr id="33" name="Shape 23"/>
          <p:cNvSpPr/>
          <p:nvPr/>
        </p:nvSpPr>
        <p:spPr>
          <a:xfrm>
            <a:off x="4443984" y="4535424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4" name="Image 8" descr="/home/user/project1/output/deck/icons/file_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57552" y="4648992"/>
            <a:ext cx="193487" cy="193487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4974336" y="45171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엑셀이 원본</a:t>
            </a:r>
            <a:endParaRPr lang="en-US" sz="1200" dirty="0"/>
          </a:p>
        </p:txBody>
      </p:sp>
      <p:sp>
        <p:nvSpPr>
          <p:cNvPr id="36" name="Text 25"/>
          <p:cNvSpPr txBox="1"/>
          <p:nvPr/>
        </p:nvSpPr>
        <p:spPr>
          <a:xfrm>
            <a:off x="4974336" y="4773168"/>
            <a:ext cx="2999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34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앱은 계산해서 보여줄 뿐, 기록은 늘 엑셀 파일에 남는다.</a:t>
            </a:r>
            <a:endParaRPr lang="en-US" sz="1000" dirty="0"/>
          </a:p>
        </p:txBody>
      </p:sp>
      <p:sp>
        <p:nvSpPr>
          <p:cNvPr id="37" name="Shape 26"/>
          <p:cNvSpPr/>
          <p:nvPr/>
        </p:nvSpPr>
        <p:spPr>
          <a:xfrm>
            <a:off x="8046720" y="4535424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8" name="Image 9" descr="/home/user/project1/output/deck/icons/check_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60288" y="4648992"/>
            <a:ext cx="193487" cy="193487"/>
          </a:xfrm>
          <a:prstGeom prst="rect">
            <a:avLst/>
          </a:prstGeom>
        </p:spPr>
      </p:pic>
      <p:sp>
        <p:nvSpPr>
          <p:cNvPr id="39" name="Text 27"/>
          <p:cNvSpPr txBox="1"/>
          <p:nvPr/>
        </p:nvSpPr>
        <p:spPr>
          <a:xfrm>
            <a:off x="8577072" y="45171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값은 미리 알려줌</a:t>
            </a:r>
            <a:endParaRPr lang="en-US" sz="1200" dirty="0"/>
          </a:p>
        </p:txBody>
      </p:sp>
      <p:sp>
        <p:nvSpPr>
          <p:cNvPr id="40" name="Text 28"/>
          <p:cNvSpPr txBox="1"/>
          <p:nvPr/>
        </p:nvSpPr>
        <p:spPr>
          <a:xfrm>
            <a:off x="8577072" y="4773168"/>
            <a:ext cx="2999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34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빠진 날짜, 없는 과제 등을 열 때 한 번에 정리해 보여준다.</a:t>
            </a:r>
            <a:endParaRPr lang="en-US" sz="1000" dirty="0"/>
          </a:p>
        </p:txBody>
      </p:sp>
      <p:sp>
        <p:nvSpPr>
          <p:cNvPr id="41" name="Text 29"/>
          <p:cNvSpPr txBox="1"/>
          <p:nvPr/>
        </p:nvSpPr>
        <p:spPr>
          <a:xfrm>
            <a:off x="566928" y="636422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B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PRAP · 임상 과제 인력 배정 시뮬레이터</a:t>
            </a:r>
            <a:endParaRPr lang="en-US" sz="900" dirty="0"/>
          </a:p>
        </p:txBody>
      </p:sp>
      <p:sp>
        <p:nvSpPr>
          <p:cNvPr id="42" name="Text 30"/>
          <p:cNvSpPr txBox="1"/>
          <p:nvPr/>
        </p:nvSpPr>
        <p:spPr>
          <a:xfrm>
            <a:off x="11076127" y="636422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B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화면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3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보여주는가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25296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B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62개 과제 · 20명 · 24개월을 한 화면에 올린 예시.</a:t>
            </a:r>
            <a:endParaRPr lang="en-US" sz="1250" dirty="0"/>
          </a:p>
        </p:txBody>
      </p:sp>
      <p:pic>
        <p:nvPicPr>
          <p:cNvPr id="5" name="Image 0" descr="/home/user/project1/output/deck/01_demand_by_proj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700784"/>
            <a:ext cx="7040880" cy="376732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66928" y="550468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B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월별 전체 투입량 — 색 띠 하나가 과제 하나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827264" y="1773936"/>
            <a:ext cx="3785616" cy="1133856"/>
          </a:xfrm>
          <a:prstGeom prst="roundRect">
            <a:avLst>
              <a:gd name="adj" fmla="val 7258"/>
            </a:avLst>
          </a:prstGeom>
          <a:solidFill>
            <a:srgbClr val="F5FAFB"/>
          </a:solidFill>
          <a:ln w="9525">
            <a:solidFill>
              <a:srgbClr val="D2E2E5"/>
            </a:solidFill>
            <a:prstDash val="solid"/>
          </a:ln>
          <a:effectLst>
            <a:outerShdw sx="100000" sy="100000" kx="0" ky="0" algn="bl" rotWithShape="0" blurRad="203200" dist="38100" dir="5400000">
              <a:srgbClr val="0B3C44">
                <a:alpha val="11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046720" y="197510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9" name="Image 1" descr="/home/user/project1/output/deck/icons/trending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0164" y="2098548"/>
            <a:ext cx="210312" cy="21031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613648" y="195681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전체가 늘고 있는지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8046720" y="2286000"/>
            <a:ext cx="3401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34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해 여름에 인력 수요가 몰린다는 것이 막대 높이로 바로 보인다.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7827264" y="3072384"/>
            <a:ext cx="3785616" cy="1133856"/>
          </a:xfrm>
          <a:prstGeom prst="roundRect">
            <a:avLst>
              <a:gd name="adj" fmla="val 7258"/>
            </a:avLst>
          </a:prstGeom>
          <a:solidFill>
            <a:srgbClr val="F5FAFB"/>
          </a:solidFill>
          <a:ln w="9525">
            <a:solidFill>
              <a:srgbClr val="D2E2E5"/>
            </a:solidFill>
            <a:prstDash val="solid"/>
          </a:ln>
          <a:effectLst>
            <a:outerShdw sx="100000" sy="100000" kx="0" ky="0" algn="bl" rotWithShape="0" blurRad="203200" dist="38100" dir="5400000">
              <a:srgbClr val="0B3C44">
                <a:alpha val="11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046720" y="327355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2" descr="/home/user/project1/output/deck/icons/pie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0164" y="3396996"/>
            <a:ext cx="210312" cy="21031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613648" y="325526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과제 때문인지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8046720" y="3584448"/>
            <a:ext cx="3401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34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막대 안의 띠 하나가 과제 하나다. 어느 과제가 그 달을 밀어 올렸는지 짚을 수 있다.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7827264" y="4370832"/>
            <a:ext cx="3785616" cy="1133856"/>
          </a:xfrm>
          <a:prstGeom prst="roundRect">
            <a:avLst>
              <a:gd name="adj" fmla="val 7258"/>
            </a:avLst>
          </a:prstGeom>
          <a:solidFill>
            <a:srgbClr val="F5FAFB"/>
          </a:solidFill>
          <a:ln w="9525">
            <a:solidFill>
              <a:srgbClr val="D2E2E5"/>
            </a:solidFill>
            <a:prstDash val="solid"/>
          </a:ln>
          <a:effectLst>
            <a:outerShdw sx="100000" sy="100000" kx="0" ky="0" algn="bl" rotWithShape="0" blurRad="203200" dist="38100" dir="5400000">
              <a:srgbClr val="0B3C44">
                <a:alpha val="11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046720" y="45720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9" name="Image 3" descr="/home/user/project1/output/deck/icons/users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0164" y="4695444"/>
            <a:ext cx="210312" cy="21031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613648" y="45537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누구에게 몰리는지</a:t>
            </a:r>
            <a:endParaRPr lang="en-US" sz="1250" dirty="0"/>
          </a:p>
        </p:txBody>
      </p:sp>
      <p:sp>
        <p:nvSpPr>
          <p:cNvPr id="21" name="Text 15"/>
          <p:cNvSpPr txBox="1"/>
          <p:nvPr/>
        </p:nvSpPr>
        <p:spPr>
          <a:xfrm>
            <a:off x="8046720" y="4882896"/>
            <a:ext cx="3401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34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기간을 사람 기준으로 다시 보면, 부담이 특정 인원에 쏠렸는지 드러난다.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7827264" y="5669280"/>
            <a:ext cx="3785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화면은 네 가지 — 전체 / 과제별 / 사람별 / 기준값</a:t>
            </a:r>
            <a:endParaRPr lang="en-US" sz="1050" dirty="0"/>
          </a:p>
        </p:txBody>
      </p:sp>
      <p:sp>
        <p:nvSpPr>
          <p:cNvPr id="23" name="Text 17"/>
          <p:cNvSpPr txBox="1"/>
          <p:nvPr/>
        </p:nvSpPr>
        <p:spPr>
          <a:xfrm>
            <a:off x="566928" y="636422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B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PRAP · 임상 과제 인력 배정 시뮬레이터</a:t>
            </a:r>
            <a:endParaRPr lang="en-US" sz="900" dirty="0"/>
          </a:p>
        </p:txBody>
      </p:sp>
      <p:sp>
        <p:nvSpPr>
          <p:cNvPr id="24" name="Text 18"/>
          <p:cNvSpPr txBox="1"/>
          <p:nvPr/>
        </p:nvSpPr>
        <p:spPr>
          <a:xfrm>
            <a:off x="11076127" y="636422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B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 방식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3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숫자는 이렇게 나온다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25296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B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복잡한 수식 대신, 두 단계로 생각하면 된다.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F5FAFB"/>
          </a:solidFill>
          <a:ln w="9525">
            <a:solidFill>
              <a:srgbClr val="D2E2E5"/>
            </a:solidFill>
            <a:prstDash val="solid"/>
          </a:ln>
          <a:effectLst>
            <a:outerShdw sx="100000" sy="100000" kx="0" ky="0" algn="bl" rotWithShape="0" blurRad="203200" dist="38100" dir="5400000">
              <a:srgbClr val="0B3C44">
                <a:alpha val="11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1975104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user/project1/output/deck/icons/target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2123237"/>
            <a:ext cx="252374" cy="25237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99616" y="197510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과제가 그 달에 필요로 하는 일의 양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633472"/>
            <a:ext cx="4846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234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종류와 진행 단계에 따라 '이 정도가 표준'이라는 기준값을 미리 정해둔다.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234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과제마다 조금씩 크고 작을 수 있어, 과제별 가중치로 조정한다.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66928" y="3712464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F5FAFB"/>
          </a:solidFill>
          <a:ln w="9525">
            <a:solidFill>
              <a:srgbClr val="D2E2E5"/>
            </a:solidFill>
            <a:prstDash val="solid"/>
          </a:ln>
          <a:effectLst>
            <a:outerShdw sx="100000" sy="100000" kx="0" ky="0" algn="bl" rotWithShape="0" blurRad="203200" dist="38100" dir="5400000">
              <a:srgbClr val="0B3C44">
                <a:alpha val="11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41248" y="3950208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1" descr="/home/user/project1/output/deck/icons/users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1" y="4098341"/>
            <a:ext cx="252374" cy="25237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99616" y="395020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그 일을 배정된 사람들이 나눠 갖는다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841248" y="4608576"/>
            <a:ext cx="4846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234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맡은 역할의 비중, 근무 비율, 참여한 기간에 따라 몫이 정해진다.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234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몇 명이든 과제가 필요로 하는 양은 그대로다 — 나누는 방식만 달라진다.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528816" y="1737360"/>
            <a:ext cx="5084064" cy="3803904"/>
          </a:xfrm>
          <a:prstGeom prst="roundRect">
            <a:avLst>
              <a:gd name="adj" fmla="val 2163"/>
            </a:avLst>
          </a:prstGeom>
          <a:solidFill>
            <a:srgbClr val="0B3C44"/>
          </a:solidFill>
          <a:ln w="12700">
            <a:solidFill>
              <a:srgbClr val="0B3C44"/>
            </a:solidFill>
            <a:prstDash val="solid"/>
          </a:ln>
          <a:effectLst>
            <a:outerShdw sx="100000" sy="100000" kx="0" ky="0" algn="bl" rotWithShape="0" blurRad="203200" dist="38100" dir="5400000">
              <a:srgbClr val="0B3C44">
                <a:alpha val="11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6839712" y="197510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예시 — 어떤 과제의 10월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6839712" y="232257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4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과제가 10월에 필요로 하는 일의 양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6839712" y="25603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1.86</a:t>
            </a:r>
            <a:endParaRPr lang="en-US" sz="3800" dirty="0"/>
          </a:p>
        </p:txBody>
      </p:sp>
      <p:sp>
        <p:nvSpPr>
          <p:cNvPr id="19" name="Text 15"/>
          <p:cNvSpPr txBox="1"/>
          <p:nvPr/>
        </p:nvSpPr>
        <p:spPr>
          <a:xfrm>
            <a:off x="8229600" y="27614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 1명 몫 = 1.00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839712" y="3310128"/>
            <a:ext cx="2071657" cy="3657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1" name="Shape 17"/>
          <p:cNvSpPr/>
          <p:nvPr/>
        </p:nvSpPr>
        <p:spPr>
          <a:xfrm>
            <a:off x="8911369" y="3310128"/>
            <a:ext cx="1445342" cy="3657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2" name="Shape 18"/>
          <p:cNvSpPr/>
          <p:nvPr/>
        </p:nvSpPr>
        <p:spPr>
          <a:xfrm>
            <a:off x="10356711" y="3310128"/>
            <a:ext cx="963561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Shape 19"/>
          <p:cNvSpPr/>
          <p:nvPr/>
        </p:nvSpPr>
        <p:spPr>
          <a:xfrm>
            <a:off x="6839712" y="3895344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095744" y="382219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 O O</a:t>
            </a:r>
            <a:endParaRPr lang="en-US" sz="1150" dirty="0"/>
          </a:p>
        </p:txBody>
      </p:sp>
      <p:sp>
        <p:nvSpPr>
          <p:cNvPr id="25" name="Text 21"/>
          <p:cNvSpPr txBox="1"/>
          <p:nvPr/>
        </p:nvSpPr>
        <p:spPr>
          <a:xfrm>
            <a:off x="8266176" y="382219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4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 담당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9857232" y="38221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0.86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6839712" y="4352544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095744" y="427939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O O</a:t>
            </a:r>
            <a:endParaRPr lang="en-US" sz="1150" dirty="0"/>
          </a:p>
        </p:txBody>
      </p:sp>
      <p:sp>
        <p:nvSpPr>
          <p:cNvPr id="29" name="Text 25"/>
          <p:cNvSpPr txBox="1"/>
          <p:nvPr/>
        </p:nvSpPr>
        <p:spPr>
          <a:xfrm>
            <a:off x="8266176" y="427939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4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</a:t>
            </a:r>
            <a:endParaRPr lang="en-US" sz="1050" dirty="0"/>
          </a:p>
        </p:txBody>
      </p:sp>
      <p:sp>
        <p:nvSpPr>
          <p:cNvPr id="30" name="Text 26"/>
          <p:cNvSpPr txBox="1"/>
          <p:nvPr/>
        </p:nvSpPr>
        <p:spPr>
          <a:xfrm>
            <a:off x="9857232" y="42793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6839712" y="4809744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7095744" y="473659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 O O</a:t>
            </a:r>
            <a:endParaRPr lang="en-US" sz="1150" dirty="0"/>
          </a:p>
        </p:txBody>
      </p:sp>
      <p:sp>
        <p:nvSpPr>
          <p:cNvPr id="33" name="Text 29"/>
          <p:cNvSpPr txBox="1"/>
          <p:nvPr/>
        </p:nvSpPr>
        <p:spPr>
          <a:xfrm>
            <a:off x="8266176" y="473659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4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일부 기간</a:t>
            </a:r>
            <a:endParaRPr lang="en-US" sz="1050" dirty="0"/>
          </a:p>
        </p:txBody>
      </p:sp>
      <p:sp>
        <p:nvSpPr>
          <p:cNvPr id="34" name="Text 30"/>
          <p:cNvSpPr txBox="1"/>
          <p:nvPr/>
        </p:nvSpPr>
        <p:spPr>
          <a:xfrm>
            <a:off x="9857232" y="4736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0.40</a:t>
            </a:r>
            <a:endParaRPr lang="en-US" sz="1300" dirty="0"/>
          </a:p>
        </p:txBody>
      </p:sp>
      <p:sp>
        <p:nvSpPr>
          <p:cNvPr id="35" name="Text 31"/>
          <p:cNvSpPr txBox="1"/>
          <p:nvPr/>
        </p:nvSpPr>
        <p:spPr>
          <a:xfrm>
            <a:off x="6839712" y="51937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사람의 몫을 더하면 정확히 1.86 — 과제가 필요로 한 양과 같다.</a:t>
            </a:r>
            <a:endParaRPr lang="en-US" sz="1050" dirty="0"/>
          </a:p>
        </p:txBody>
      </p:sp>
      <p:sp>
        <p:nvSpPr>
          <p:cNvPr id="36" name="Text 32"/>
          <p:cNvSpPr txBox="1"/>
          <p:nvPr/>
        </p:nvSpPr>
        <p:spPr>
          <a:xfrm>
            <a:off x="566928" y="636422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B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PRAP · 임상 과제 인력 배정 시뮬레이터</a:t>
            </a:r>
            <a:endParaRPr lang="en-US" sz="900" dirty="0"/>
          </a:p>
        </p:txBody>
      </p:sp>
      <p:sp>
        <p:nvSpPr>
          <p:cNvPr id="37" name="Text 33"/>
          <p:cNvSpPr txBox="1"/>
          <p:nvPr/>
        </p:nvSpPr>
        <p:spPr>
          <a:xfrm>
            <a:off x="11076127" y="636422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B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가치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3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것들을 미리 잡아낸다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25296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B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 있어야 보이는 것이 아니라, 열면 먼저 알려준다.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792224"/>
            <a:ext cx="5330952" cy="1755648"/>
          </a:xfrm>
          <a:prstGeom prst="roundRect">
            <a:avLst>
              <a:gd name="adj" fmla="val 4688"/>
            </a:avLst>
          </a:prstGeom>
          <a:solidFill>
            <a:srgbClr val="F5FAFB"/>
          </a:solidFill>
          <a:ln w="9525">
            <a:solidFill>
              <a:srgbClr val="D2E2E5"/>
            </a:solidFill>
            <a:prstDash val="solid"/>
          </a:ln>
          <a:effectLst>
            <a:outerShdw sx="100000" sy="100000" kx="0" ky="0" algn="bl" rotWithShape="0" blurRad="203200" dist="38100" dir="5400000">
              <a:srgbClr val="0B3C44">
                <a:alpha val="11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48256"/>
            <a:ext cx="603504" cy="603504"/>
          </a:xfrm>
          <a:prstGeom prst="ellipse">
            <a:avLst/>
          </a:prstGeom>
          <a:solidFill>
            <a:srgbClr val="C2603F"/>
          </a:solidFill>
          <a:ln/>
        </p:spPr>
      </p:sp>
      <p:pic>
        <p:nvPicPr>
          <p:cNvPr id="7" name="Image 0" descr="/home/user/project1/output/deck/icons/alert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906" y="2211202"/>
            <a:ext cx="277612" cy="2776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204825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과부하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743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34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사람의 월 투입량이 기준을 넘으면 표시하고 개수를 세어 준다.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22960" y="3108960"/>
            <a:ext cx="4846320" cy="310896"/>
          </a:xfrm>
          <a:prstGeom prst="roundRect">
            <a:avLst>
              <a:gd name="adj" fmla="val 14706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50976" y="3108960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 다음 분기 배정을 바꿀 근거가 된다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172200" y="1792224"/>
            <a:ext cx="5330952" cy="1755648"/>
          </a:xfrm>
          <a:prstGeom prst="roundRect">
            <a:avLst>
              <a:gd name="adj" fmla="val 4688"/>
            </a:avLst>
          </a:prstGeom>
          <a:solidFill>
            <a:srgbClr val="F5FAFB"/>
          </a:solidFill>
          <a:ln w="9525">
            <a:solidFill>
              <a:srgbClr val="D2E2E5"/>
            </a:solidFill>
            <a:prstDash val="solid"/>
          </a:ln>
          <a:effectLst>
            <a:outerShdw sx="100000" sy="100000" kx="0" ky="0" algn="bl" rotWithShape="0" blurRad="203200" dist="38100" dir="5400000">
              <a:srgbClr val="0B3C44">
                <a:alpha val="11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28232" y="2048256"/>
            <a:ext cx="603504" cy="603504"/>
          </a:xfrm>
          <a:prstGeom prst="ellipse">
            <a:avLst/>
          </a:prstGeom>
          <a:solidFill>
            <a:srgbClr val="E0A500"/>
          </a:solidFill>
          <a:ln/>
        </p:spPr>
      </p:sp>
      <p:pic>
        <p:nvPicPr>
          <p:cNvPr id="14" name="Image 1" descr="/home/user/project1/output/deck/icons/down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1178" y="2211202"/>
            <a:ext cx="277612" cy="27761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159752" y="204825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여유 인력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6428232" y="2743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34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달 연속으로 여유가 있는 사람을 찾아 준다.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428232" y="3108960"/>
            <a:ext cx="4846320" cy="310896"/>
          </a:xfrm>
          <a:prstGeom prst="roundRect">
            <a:avLst>
              <a:gd name="adj" fmla="val 14706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556248" y="3108960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 신규 과제를 누구에게 줄지 판단한다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566928" y="3803904"/>
            <a:ext cx="5330952" cy="1755648"/>
          </a:xfrm>
          <a:prstGeom prst="roundRect">
            <a:avLst>
              <a:gd name="adj" fmla="val 4688"/>
            </a:avLst>
          </a:prstGeom>
          <a:solidFill>
            <a:srgbClr val="F5FAFB"/>
          </a:solidFill>
          <a:ln w="9525">
            <a:solidFill>
              <a:srgbClr val="D2E2E5"/>
            </a:solidFill>
            <a:prstDash val="solid"/>
          </a:ln>
          <a:effectLst>
            <a:outerShdw sx="100000" sy="100000" kx="0" ky="0" algn="bl" rotWithShape="0" blurRad="203200" dist="38100" dir="5400000">
              <a:srgbClr val="0B3C44">
                <a:alpha val="11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059936"/>
            <a:ext cx="603504" cy="60350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2" descr="/home/user/project1/output/deck/icons/target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06" y="4222882"/>
            <a:ext cx="277612" cy="27761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554480" y="405993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 대비 부족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822960" y="4754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34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과제가 표준만큼 인력을 받고 있는지 대조한다.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822960" y="5120640"/>
            <a:ext cx="4846320" cy="310896"/>
          </a:xfrm>
          <a:prstGeom prst="roundRect">
            <a:avLst>
              <a:gd name="adj" fmla="val 14706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950976" y="5120640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 인력이 모자란 과제를 먼저 본다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6172200" y="3803904"/>
            <a:ext cx="5330952" cy="1755648"/>
          </a:xfrm>
          <a:prstGeom prst="roundRect">
            <a:avLst>
              <a:gd name="adj" fmla="val 4688"/>
            </a:avLst>
          </a:prstGeom>
          <a:solidFill>
            <a:srgbClr val="F5FAFB"/>
          </a:solidFill>
          <a:ln w="9525">
            <a:solidFill>
              <a:srgbClr val="D2E2E5"/>
            </a:solidFill>
            <a:prstDash val="solid"/>
          </a:ln>
          <a:effectLst>
            <a:outerShdw sx="100000" sy="100000" kx="0" ky="0" algn="bl" rotWithShape="0" blurRad="203200" dist="38100" dir="5400000">
              <a:srgbClr val="0B3C44">
                <a:alpha val="11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428232" y="4059936"/>
            <a:ext cx="603504" cy="603504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8" name="Image 3" descr="/home/user/project1/output/deck/icons/grid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1178" y="4222882"/>
            <a:ext cx="277612" cy="27761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159752" y="405993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아직 배정 안 된 과제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6428232" y="4754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34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한 명도 없는 과제도 필요한 양을 먼저 보여준다.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6428232" y="5120640"/>
            <a:ext cx="4846320" cy="310896"/>
          </a:xfrm>
          <a:prstGeom prst="roundRect">
            <a:avLst>
              <a:gd name="adj" fmla="val 14706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6556248" y="5120640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 새 과제의 소요를 미리 가늠한다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566928" y="636422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B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PRAP · 임상 과제 인력 배정 시뮬레이터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11076127" y="636422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B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C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과정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AI로 만들되, 숫자는 믿을 수 있게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2529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4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정하고 AI가 만들되, 틀린 채로 넘어가지 못하도록 단계마다 확인 장치를 두었다.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700784"/>
            <a:ext cx="2670048" cy="2029968"/>
          </a:xfrm>
          <a:prstGeom prst="roundRect">
            <a:avLst>
              <a:gd name="adj" fmla="val 4054"/>
            </a:avLst>
          </a:prstGeom>
          <a:solidFill>
            <a:srgbClr val="072E34"/>
          </a:solidFill>
          <a:ln w="12700">
            <a:solidFill>
              <a:srgbClr val="1D57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91056" y="1920240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user/project1/output/deck/icons/book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8940" y="2088124"/>
            <a:ext cx="286024" cy="28602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94944" y="2651760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만들지 먼저 글로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127248"/>
            <a:ext cx="23408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F4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화면과 계산 규칙을 문서로 먼저 확정했다.</a:t>
            </a:r>
            <a:endParaRPr lang="en-US" sz="1000" dirty="0"/>
          </a:p>
        </p:txBody>
      </p:sp>
      <p:pic>
        <p:nvPicPr>
          <p:cNvPr id="10" name="Image 1" descr="/home/user/project1/output/deck/icons/arrow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2651760"/>
            <a:ext cx="128016" cy="12801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383280" y="1700784"/>
            <a:ext cx="2670048" cy="2029968"/>
          </a:xfrm>
          <a:prstGeom prst="roundRect">
            <a:avLst>
              <a:gd name="adj" fmla="val 4054"/>
            </a:avLst>
          </a:prstGeom>
          <a:solidFill>
            <a:srgbClr val="072E34"/>
          </a:solidFill>
          <a:ln w="12700">
            <a:solidFill>
              <a:srgbClr val="1D576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407408" y="1920240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2" descr="/home/user/project1/output/deck/icons/check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5292" y="2088124"/>
            <a:ext cx="286024" cy="28602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511296" y="2651760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단계마다 검토하고 승인</a:t>
            </a:r>
            <a:endParaRPr lang="en-US" sz="1250" dirty="0"/>
          </a:p>
        </p:txBody>
      </p:sp>
      <p:sp>
        <p:nvSpPr>
          <p:cNvPr id="15" name="Text 10"/>
          <p:cNvSpPr txBox="1"/>
          <p:nvPr/>
        </p:nvSpPr>
        <p:spPr>
          <a:xfrm>
            <a:off x="3547872" y="3127248"/>
            <a:ext cx="23408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F4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승인 전에는 다음 단계로 넘어가지 않았다.</a:t>
            </a:r>
            <a:endParaRPr lang="en-US" sz="1000" dirty="0"/>
          </a:p>
        </p:txBody>
      </p:sp>
      <p:pic>
        <p:nvPicPr>
          <p:cNvPr id="16" name="Image 3" descr="/home/user/project1/output/deck/icons/arrow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2472" y="2651760"/>
            <a:ext cx="128016" cy="128016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199632" y="1700784"/>
            <a:ext cx="2670048" cy="2029968"/>
          </a:xfrm>
          <a:prstGeom prst="roundRect">
            <a:avLst>
              <a:gd name="adj" fmla="val 4054"/>
            </a:avLst>
          </a:prstGeom>
          <a:solidFill>
            <a:srgbClr val="072E34"/>
          </a:solidFill>
          <a:ln w="12700">
            <a:solidFill>
              <a:srgbClr val="1D5760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7223760" y="1920240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9" name="Image 4" descr="/home/user/project1/output/deck/icons/zap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1644" y="2088124"/>
            <a:ext cx="286024" cy="28602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327648" y="2651760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구현</a:t>
            </a:r>
            <a:endParaRPr lang="en-US" sz="1250" dirty="0"/>
          </a:p>
        </p:txBody>
      </p:sp>
      <p:sp>
        <p:nvSpPr>
          <p:cNvPr id="21" name="Text 14"/>
          <p:cNvSpPr txBox="1"/>
          <p:nvPr/>
        </p:nvSpPr>
        <p:spPr>
          <a:xfrm>
            <a:off x="6364224" y="3127248"/>
            <a:ext cx="23408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F4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확정된 내용만 코드로 옮기게 했다.</a:t>
            </a:r>
            <a:endParaRPr lang="en-US" sz="1000" dirty="0"/>
          </a:p>
        </p:txBody>
      </p:sp>
      <p:pic>
        <p:nvPicPr>
          <p:cNvPr id="22" name="Image 5" descr="/home/user/project1/output/deck/icons/arrow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8824" y="2651760"/>
            <a:ext cx="128016" cy="128016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9015984" y="1700784"/>
            <a:ext cx="2670048" cy="2029968"/>
          </a:xfrm>
          <a:prstGeom prst="roundRect">
            <a:avLst>
              <a:gd name="adj" fmla="val 4054"/>
            </a:avLst>
          </a:prstGeom>
          <a:solidFill>
            <a:srgbClr val="072E34"/>
          </a:solidFill>
          <a:ln w="12700">
            <a:solidFill>
              <a:srgbClr val="1D5760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10040112" y="1920240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5" name="Image 6" descr="/home/user/project1/output/deck/icons/refresh_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07996" y="2088124"/>
            <a:ext cx="286024" cy="286024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9144000" y="2651760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자동으로 다시 확인</a:t>
            </a:r>
            <a:endParaRPr lang="en-US" sz="1250" dirty="0"/>
          </a:p>
        </p:txBody>
      </p:sp>
      <p:sp>
        <p:nvSpPr>
          <p:cNvPr id="27" name="Text 18"/>
          <p:cNvSpPr txBox="1"/>
          <p:nvPr/>
        </p:nvSpPr>
        <p:spPr>
          <a:xfrm>
            <a:off x="9180576" y="3127248"/>
            <a:ext cx="23408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AF4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문서와 프로그램이 어긋나면 바로 드러나게 했다.</a:t>
            </a:r>
            <a:endParaRPr lang="en-US" sz="1000" dirty="0"/>
          </a:p>
        </p:txBody>
      </p:sp>
      <p:sp>
        <p:nvSpPr>
          <p:cNvPr id="28" name="Text 19"/>
          <p:cNvSpPr txBox="1"/>
          <p:nvPr/>
        </p:nvSpPr>
        <p:spPr>
          <a:xfrm>
            <a:off x="566928" y="39867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숫자를 믿을 수 있게 만든 방법</a:t>
            </a:r>
            <a:endParaRPr lang="en-US" sz="1400" dirty="0"/>
          </a:p>
        </p:txBody>
      </p:sp>
      <p:pic>
        <p:nvPicPr>
          <p:cNvPr id="29" name="Image 7" descr="/home/user/project1/output/deck/icons/check_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928" y="4370832"/>
            <a:ext cx="201168" cy="201168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896112" y="4334256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4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계산을 여러 방식으로 따로 만들어 결과가 모두 일치할 때만 통과시켰다.</a:t>
            </a:r>
            <a:endParaRPr lang="en-US" sz="1150" dirty="0"/>
          </a:p>
        </p:txBody>
      </p:sp>
      <p:pic>
        <p:nvPicPr>
          <p:cNvPr id="31" name="Image 8" descr="/home/user/project1/output/deck/icons/check_w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6928" y="4846320"/>
            <a:ext cx="201168" cy="201168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896112" y="480974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4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기준을 주장이 아니라 실제로 재서 정했다 — 규모별 응답 속도를 측정해 확인했다.</a:t>
            </a:r>
            <a:endParaRPr lang="en-US" sz="1150" dirty="0"/>
          </a:p>
        </p:txBody>
      </p:sp>
      <p:pic>
        <p:nvPicPr>
          <p:cNvPr id="33" name="Image 9" descr="/home/user/project1/output/deck/icons/check_w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6928" y="5321808"/>
            <a:ext cx="201168" cy="201168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896112" y="528523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4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문서와 프로그램이 어긋나면 만들 때 바로 걸리도록 해두었다.</a:t>
            </a:r>
            <a:endParaRPr lang="en-US" sz="1150" dirty="0"/>
          </a:p>
        </p:txBody>
      </p:sp>
      <p:sp>
        <p:nvSpPr>
          <p:cNvPr id="35" name="Text 23"/>
          <p:cNvSpPr txBox="1"/>
          <p:nvPr/>
        </p:nvSpPr>
        <p:spPr>
          <a:xfrm>
            <a:off x="8138160" y="404164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</a:t>
            </a:r>
            <a:endParaRPr lang="en-US" sz="2600" dirty="0"/>
          </a:p>
        </p:txBody>
      </p:sp>
      <p:sp>
        <p:nvSpPr>
          <p:cNvPr id="36" name="Text 24"/>
          <p:cNvSpPr txBox="1"/>
          <p:nvPr/>
        </p:nvSpPr>
        <p:spPr>
          <a:xfrm>
            <a:off x="9454896" y="40416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합의된 요구사항</a:t>
            </a:r>
            <a:endParaRPr lang="en-US" sz="1100" dirty="0"/>
          </a:p>
        </p:txBody>
      </p:sp>
      <p:sp>
        <p:nvSpPr>
          <p:cNvPr id="37" name="Text 25"/>
          <p:cNvSpPr txBox="1"/>
          <p:nvPr/>
        </p:nvSpPr>
        <p:spPr>
          <a:xfrm>
            <a:off x="8138160" y="468172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2600" dirty="0"/>
          </a:p>
        </p:txBody>
      </p:sp>
      <p:sp>
        <p:nvSpPr>
          <p:cNvPr id="38" name="Text 26"/>
          <p:cNvSpPr txBox="1"/>
          <p:nvPr/>
        </p:nvSpPr>
        <p:spPr>
          <a:xfrm>
            <a:off x="9454896" y="46817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점검 항목</a:t>
            </a:r>
            <a:endParaRPr lang="en-US" sz="1100" dirty="0"/>
          </a:p>
        </p:txBody>
      </p:sp>
      <p:sp>
        <p:nvSpPr>
          <p:cNvPr id="39" name="Text 27"/>
          <p:cNvSpPr txBox="1"/>
          <p:nvPr/>
        </p:nvSpPr>
        <p:spPr>
          <a:xfrm>
            <a:off x="8138160" y="532180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2600" dirty="0"/>
          </a:p>
        </p:txBody>
      </p:sp>
      <p:sp>
        <p:nvSpPr>
          <p:cNvPr id="40" name="Text 28"/>
          <p:cNvSpPr txBox="1"/>
          <p:nvPr/>
        </p:nvSpPr>
        <p:spPr>
          <a:xfrm>
            <a:off x="9454896" y="53218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이력</a:t>
            </a:r>
            <a:endParaRPr lang="en-US" sz="1100" dirty="0"/>
          </a:p>
        </p:txBody>
      </p:sp>
      <p:sp>
        <p:nvSpPr>
          <p:cNvPr id="41" name="Text 29"/>
          <p:cNvSpPr txBox="1"/>
          <p:nvPr/>
        </p:nvSpPr>
        <p:spPr>
          <a:xfrm>
            <a:off x="11076127" y="636422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B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기대효과 · 향후 계획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3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좋아지고, 다음은 무엇인가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7276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기대효과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1956816"/>
            <a:ext cx="2395728" cy="731520"/>
          </a:xfrm>
          <a:prstGeom prst="roundRect">
            <a:avLst>
              <a:gd name="adj" fmla="val 7500"/>
            </a:avLst>
          </a:prstGeom>
          <a:solidFill>
            <a:srgbClr val="FBEDE7"/>
          </a:solidFill>
          <a:ln w="9525">
            <a:solidFill>
              <a:srgbClr val="EDD3C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4944" y="2002536"/>
            <a:ext cx="2139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A3A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과제별 표를 사람 기준으로 손으로 합산</a:t>
            </a:r>
            <a:endParaRPr lang="en-US" sz="1000" dirty="0"/>
          </a:p>
        </p:txBody>
      </p:sp>
      <p:pic>
        <p:nvPicPr>
          <p:cNvPr id="7" name="Image 0" descr="/home/user/project1/output/deck/icons/arrow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2240280"/>
            <a:ext cx="164592" cy="16459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456432" y="1956816"/>
            <a:ext cx="2505456" cy="731520"/>
          </a:xfrm>
          <a:prstGeom prst="roundRect">
            <a:avLst>
              <a:gd name="adj" fmla="val 7500"/>
            </a:avLst>
          </a:prstGeom>
          <a:solidFill>
            <a:srgbClr val="EAF4F5"/>
          </a:solidFill>
          <a:ln w="9525">
            <a:solidFill>
              <a:srgbClr val="D2E2E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584448" y="2002536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B3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사람별 월 합계가 자동으로 나온다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66928" y="2871216"/>
            <a:ext cx="2395728" cy="731520"/>
          </a:xfrm>
          <a:prstGeom prst="roundRect">
            <a:avLst>
              <a:gd name="adj" fmla="val 7500"/>
            </a:avLst>
          </a:prstGeom>
          <a:solidFill>
            <a:srgbClr val="FBEDE7"/>
          </a:solidFill>
          <a:ln w="9525">
            <a:solidFill>
              <a:srgbClr val="EDD3C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94944" y="2916936"/>
            <a:ext cx="2139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A3A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문제가 생긴 뒤에 알게 됨</a:t>
            </a:r>
            <a:endParaRPr lang="en-US" sz="1000" dirty="0"/>
          </a:p>
        </p:txBody>
      </p:sp>
      <p:pic>
        <p:nvPicPr>
          <p:cNvPr id="12" name="Image 1" descr="/home/user/project1/output/deck/icons/arrow_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3154680"/>
            <a:ext cx="164592" cy="16459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456432" y="2871216"/>
            <a:ext cx="2505456" cy="731520"/>
          </a:xfrm>
          <a:prstGeom prst="roundRect">
            <a:avLst>
              <a:gd name="adj" fmla="val 7500"/>
            </a:avLst>
          </a:prstGeom>
          <a:solidFill>
            <a:srgbClr val="EAF4F5"/>
          </a:solidFill>
          <a:ln w="9525">
            <a:solidFill>
              <a:srgbClr val="D2E2E5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584448" y="2916936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B3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몰리는 구간이 생기기 전에 보인다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66928" y="3785616"/>
            <a:ext cx="2395728" cy="731520"/>
          </a:xfrm>
          <a:prstGeom prst="roundRect">
            <a:avLst>
              <a:gd name="adj" fmla="val 7500"/>
            </a:avLst>
          </a:prstGeom>
          <a:solidFill>
            <a:srgbClr val="FBEDE7"/>
          </a:solidFill>
          <a:ln w="9525">
            <a:solidFill>
              <a:srgbClr val="EDD3C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94944" y="3831336"/>
            <a:ext cx="2139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A3A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일정이 바뀌면 표를 다시 작성</a:t>
            </a:r>
            <a:endParaRPr lang="en-US" sz="1000" dirty="0"/>
          </a:p>
        </p:txBody>
      </p:sp>
      <p:pic>
        <p:nvPicPr>
          <p:cNvPr id="17" name="Image 2" descr="/home/user/project1/output/deck/icons/arrow_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4069080"/>
            <a:ext cx="164592" cy="164592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3456432" y="3785616"/>
            <a:ext cx="2505456" cy="731520"/>
          </a:xfrm>
          <a:prstGeom prst="roundRect">
            <a:avLst>
              <a:gd name="adj" fmla="val 7500"/>
            </a:avLst>
          </a:prstGeom>
          <a:solidFill>
            <a:srgbClr val="EAF4F5"/>
          </a:solidFill>
          <a:ln w="9525">
            <a:solidFill>
              <a:srgbClr val="D2E2E5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3584448" y="3831336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B3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날짜만 고치면 바로 다시 계산된다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66928" y="4700016"/>
            <a:ext cx="2395728" cy="731520"/>
          </a:xfrm>
          <a:prstGeom prst="roundRect">
            <a:avLst>
              <a:gd name="adj" fmla="val 7500"/>
            </a:avLst>
          </a:prstGeom>
          <a:solidFill>
            <a:srgbClr val="FBEDE7"/>
          </a:solidFill>
          <a:ln w="9525">
            <a:solidFill>
              <a:srgbClr val="EDD3CA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94944" y="4745736"/>
            <a:ext cx="2139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A3A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숫자의 근거를 되짚기 어려움</a:t>
            </a:r>
            <a:endParaRPr lang="en-US" sz="1000" dirty="0"/>
          </a:p>
        </p:txBody>
      </p:sp>
      <p:pic>
        <p:nvPicPr>
          <p:cNvPr id="22" name="Image 3" descr="/home/user/project1/output/deck/icons/arrow_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4983480"/>
            <a:ext cx="164592" cy="164592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3456432" y="4700016"/>
            <a:ext cx="2505456" cy="731520"/>
          </a:xfrm>
          <a:prstGeom prst="roundRect">
            <a:avLst>
              <a:gd name="adj" fmla="val 7500"/>
            </a:avLst>
          </a:prstGeom>
          <a:solidFill>
            <a:srgbClr val="EAF4F5"/>
          </a:solidFill>
          <a:ln w="9525">
            <a:solidFill>
              <a:srgbClr val="D2E2E5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3584448" y="4745736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B3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값에서 나왔는지 따라갈 수 있다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6327648" y="157276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향후 확장 계획</a:t>
            </a:r>
            <a:endParaRPr lang="en-US" sz="1500" dirty="0"/>
          </a:p>
        </p:txBody>
      </p:sp>
      <p:sp>
        <p:nvSpPr>
          <p:cNvPr id="26" name="Shape 20"/>
          <p:cNvSpPr/>
          <p:nvPr/>
        </p:nvSpPr>
        <p:spPr>
          <a:xfrm>
            <a:off x="6327648" y="1956816"/>
            <a:ext cx="5294376" cy="1060704"/>
          </a:xfrm>
          <a:prstGeom prst="roundRect">
            <a:avLst>
              <a:gd name="adj" fmla="val 7759"/>
            </a:avLst>
          </a:prstGeom>
          <a:solidFill>
            <a:srgbClr val="F5FAFB"/>
          </a:solidFill>
          <a:ln w="9525">
            <a:solidFill>
              <a:srgbClr val="D2E2E5"/>
            </a:solidFill>
            <a:prstDash val="solid"/>
          </a:ln>
          <a:effectLst>
            <a:outerShdw sx="100000" sy="100000" kx="0" ky="0" algn="bl" rotWithShape="0" blurRad="203200" dist="38100" dir="5400000">
              <a:srgbClr val="0B3C44">
                <a:alpha val="11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6547104" y="2157984"/>
            <a:ext cx="786384" cy="310896"/>
          </a:xfrm>
          <a:prstGeom prst="roundRect">
            <a:avLst>
              <a:gd name="adj" fmla="val 14706"/>
            </a:avLst>
          </a:prstGeom>
          <a:solidFill>
            <a:srgbClr val="028090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6547104" y="2157984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단기</a:t>
            </a:r>
            <a:endParaRPr lang="en-US" sz="1100" dirty="0"/>
          </a:p>
        </p:txBody>
      </p:sp>
      <p:pic>
        <p:nvPicPr>
          <p:cNvPr id="29" name="Image 4" descr="/home/user/project1/output/deck/icons/clock_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0" y="2221992"/>
            <a:ext cx="182880" cy="18288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754112" y="215798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1~2주</a:t>
            </a:r>
            <a:endParaRPr lang="en-US" sz="1050" dirty="0"/>
          </a:p>
        </p:txBody>
      </p:sp>
      <p:sp>
        <p:nvSpPr>
          <p:cNvPr id="31" name="Text 24"/>
          <p:cNvSpPr txBox="1"/>
          <p:nvPr/>
        </p:nvSpPr>
        <p:spPr>
          <a:xfrm>
            <a:off x="6547104" y="254203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34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배정되지 않은 과제의 필요량을 그래프에도 표시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6327648" y="3182112"/>
            <a:ext cx="5294376" cy="1060704"/>
          </a:xfrm>
          <a:prstGeom prst="roundRect">
            <a:avLst>
              <a:gd name="adj" fmla="val 7759"/>
            </a:avLst>
          </a:prstGeom>
          <a:solidFill>
            <a:srgbClr val="F5FAFB"/>
          </a:solidFill>
          <a:ln w="9525">
            <a:solidFill>
              <a:srgbClr val="D2E2E5"/>
            </a:solidFill>
            <a:prstDash val="solid"/>
          </a:ln>
          <a:effectLst>
            <a:outerShdw sx="100000" sy="100000" kx="0" ky="0" algn="bl" rotWithShape="0" blurRad="203200" dist="38100" dir="5400000">
              <a:srgbClr val="0B3C44">
                <a:alpha val="11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6547104" y="3383280"/>
            <a:ext cx="786384" cy="310896"/>
          </a:xfrm>
          <a:prstGeom prst="roundRect">
            <a:avLst>
              <a:gd name="adj" fmla="val 14706"/>
            </a:avLst>
          </a:prstGeom>
          <a:solidFill>
            <a:srgbClr val="00A896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6547104" y="3383280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중기</a:t>
            </a:r>
            <a:endParaRPr lang="en-US" sz="1100" dirty="0"/>
          </a:p>
        </p:txBody>
      </p:sp>
      <p:pic>
        <p:nvPicPr>
          <p:cNvPr id="35" name="Image 5" descr="/home/user/project1/output/deck/icons/clock_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3447288"/>
            <a:ext cx="182880" cy="18288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7754112" y="33832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1~2개월</a:t>
            </a:r>
            <a:endParaRPr lang="en-US" sz="1050" dirty="0"/>
          </a:p>
        </p:txBody>
      </p:sp>
      <p:sp>
        <p:nvSpPr>
          <p:cNvPr id="37" name="Text 29"/>
          <p:cNvSpPr txBox="1"/>
          <p:nvPr/>
        </p:nvSpPr>
        <p:spPr>
          <a:xfrm>
            <a:off x="6547104" y="376732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34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근무일·휴일 반영 · 두 가지 계획안을 나란히 비교</a:t>
            </a:r>
            <a:endParaRPr lang="en-US" sz="1050" dirty="0"/>
          </a:p>
        </p:txBody>
      </p:sp>
      <p:sp>
        <p:nvSpPr>
          <p:cNvPr id="38" name="Shape 30"/>
          <p:cNvSpPr/>
          <p:nvPr/>
        </p:nvSpPr>
        <p:spPr>
          <a:xfrm>
            <a:off x="6327648" y="4407408"/>
            <a:ext cx="5294376" cy="1060704"/>
          </a:xfrm>
          <a:prstGeom prst="roundRect">
            <a:avLst>
              <a:gd name="adj" fmla="val 7759"/>
            </a:avLst>
          </a:prstGeom>
          <a:solidFill>
            <a:srgbClr val="F5FAFB"/>
          </a:solidFill>
          <a:ln w="9525">
            <a:solidFill>
              <a:srgbClr val="D2E2E5"/>
            </a:solidFill>
            <a:prstDash val="solid"/>
          </a:ln>
          <a:effectLst>
            <a:outerShdw sx="100000" sy="100000" kx="0" ky="0" algn="bl" rotWithShape="0" blurRad="203200" dist="38100" dir="5400000">
              <a:srgbClr val="0B3C44">
                <a:alpha val="11000"/>
              </a:srgbClr>
            </a:outerShdw>
          </a:effectLst>
        </p:spPr>
      </p:sp>
      <p:sp>
        <p:nvSpPr>
          <p:cNvPr id="39" name="Shape 31"/>
          <p:cNvSpPr/>
          <p:nvPr/>
        </p:nvSpPr>
        <p:spPr>
          <a:xfrm>
            <a:off x="6547104" y="4608576"/>
            <a:ext cx="786384" cy="310896"/>
          </a:xfrm>
          <a:prstGeom prst="roundRect">
            <a:avLst>
              <a:gd name="adj" fmla="val 14706"/>
            </a:avLst>
          </a:prstGeom>
          <a:solidFill>
            <a:srgbClr val="02C39A"/>
          </a:solidFill>
          <a:ln/>
        </p:spPr>
      </p:sp>
      <p:sp>
        <p:nvSpPr>
          <p:cNvPr id="40" name="Text 32"/>
          <p:cNvSpPr txBox="1"/>
          <p:nvPr/>
        </p:nvSpPr>
        <p:spPr>
          <a:xfrm>
            <a:off x="6547104" y="4608576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장기</a:t>
            </a:r>
            <a:endParaRPr lang="en-US" sz="1100" dirty="0"/>
          </a:p>
        </p:txBody>
      </p:sp>
      <p:pic>
        <p:nvPicPr>
          <p:cNvPr id="41" name="Image 6" descr="/home/user/project1/output/deck/icons/clock_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0" y="4672584"/>
            <a:ext cx="182880" cy="182880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7754112" y="460857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별도 검토</a:t>
            </a:r>
            <a:endParaRPr lang="en-US" sz="1050" dirty="0"/>
          </a:p>
        </p:txBody>
      </p:sp>
      <p:sp>
        <p:nvSpPr>
          <p:cNvPr id="43" name="Text 34"/>
          <p:cNvSpPr txBox="1"/>
          <p:nvPr/>
        </p:nvSpPr>
        <p:spPr>
          <a:xfrm>
            <a:off x="6547104" y="499262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34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명이 동시에 쓰는 형태 · 인사 시스템 연계</a:t>
            </a:r>
            <a:endParaRPr lang="en-US" sz="1050" dirty="0"/>
          </a:p>
        </p:txBody>
      </p:sp>
      <p:sp>
        <p:nvSpPr>
          <p:cNvPr id="44" name="Text 35"/>
          <p:cNvSpPr txBox="1"/>
          <p:nvPr/>
        </p:nvSpPr>
        <p:spPr>
          <a:xfrm>
            <a:off x="6327648" y="5577840"/>
            <a:ext cx="5294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E7B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계산하는 부분과 보여주는 부분이 나뉘어 있어, 형태가 바뀌어도 숫자를 만드는 방식은 그대로 쓴다.</a:t>
            </a:r>
            <a:endParaRPr lang="en-US" sz="1000" dirty="0"/>
          </a:p>
        </p:txBody>
      </p:sp>
      <p:sp>
        <p:nvSpPr>
          <p:cNvPr id="45" name="Text 36"/>
          <p:cNvSpPr txBox="1"/>
          <p:nvPr/>
        </p:nvSpPr>
        <p:spPr>
          <a:xfrm>
            <a:off x="566928" y="636422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B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PRAP · 임상 과제 인력 배정 시뮬레이터</a:t>
            </a:r>
            <a:endParaRPr lang="en-US" sz="900" dirty="0"/>
          </a:p>
        </p:txBody>
      </p:sp>
      <p:sp>
        <p:nvSpPr>
          <p:cNvPr id="46" name="Text 37"/>
          <p:cNvSpPr txBox="1"/>
          <p:nvPr/>
        </p:nvSpPr>
        <p:spPr>
          <a:xfrm>
            <a:off x="11076127" y="636422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B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3C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화면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44752"/>
            <a:ext cx="5330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일정</a:t>
            </a:r>
            <a:endParaRPr lang="en-US" sz="1250" dirty="0"/>
          </a:p>
        </p:txBody>
      </p:sp>
      <p:pic>
        <p:nvPicPr>
          <p:cNvPr id="5" name="Image 0" descr="/home/user/project1/output/deck/03_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737360"/>
            <a:ext cx="5330952" cy="148132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66928" y="3273552"/>
            <a:ext cx="5330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E7B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과제별 시작·종료와 단계별 구간. 어느 시기에 과제가 겹치는지 보인다.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6172200" y="1444752"/>
            <a:ext cx="5330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사람별 월 투입량</a:t>
            </a:r>
            <a:endParaRPr lang="en-US" sz="1250" dirty="0"/>
          </a:p>
        </p:txBody>
      </p:sp>
      <p:pic>
        <p:nvPicPr>
          <p:cNvPr id="8" name="Image 1" descr="/home/user/project1/output/deck/05_resource_by_pers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737360"/>
            <a:ext cx="5330952" cy="1481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172200" y="3273552"/>
            <a:ext cx="5330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E7B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과제를 합친 한 사람의 월별 부담. 과부하는 ▲, 여유는 ▼로 표시된다.</a:t>
            </a:r>
            <a:endParaRPr lang="en-US" sz="950" dirty="0"/>
          </a:p>
        </p:txBody>
      </p:sp>
      <p:sp>
        <p:nvSpPr>
          <p:cNvPr id="10" name="Text 6"/>
          <p:cNvSpPr txBox="1"/>
          <p:nvPr/>
        </p:nvSpPr>
        <p:spPr>
          <a:xfrm>
            <a:off x="566928" y="3877056"/>
            <a:ext cx="5330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 대비 투입</a:t>
            </a:r>
            <a:endParaRPr lang="en-US" sz="1250" dirty="0"/>
          </a:p>
        </p:txBody>
      </p:sp>
      <p:pic>
        <p:nvPicPr>
          <p:cNvPr id="11" name="Image 2" descr="/home/user/project1/output/deck/04_standard_vs_staff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169664"/>
            <a:ext cx="5330952" cy="148132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66928" y="5705856"/>
            <a:ext cx="5330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E7B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과제가 표준만큼 받고 있는지. 줄을 누르면 그 달의 근거가 열린다.</a:t>
            </a:r>
            <a:endParaRPr lang="en-US" sz="950" dirty="0"/>
          </a:p>
        </p:txBody>
      </p:sp>
      <p:sp>
        <p:nvSpPr>
          <p:cNvPr id="13" name="Text 8"/>
          <p:cNvSpPr txBox="1"/>
          <p:nvPr/>
        </p:nvSpPr>
        <p:spPr>
          <a:xfrm>
            <a:off x="6172200" y="3877056"/>
            <a:ext cx="5330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과제별 추이</a:t>
            </a:r>
            <a:endParaRPr lang="en-US" sz="1250" dirty="0"/>
          </a:p>
        </p:txBody>
      </p:sp>
      <p:pic>
        <p:nvPicPr>
          <p:cNvPr id="14" name="Image 3" descr="/home/user/project1/output/deck/07_project_utilisa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4169664"/>
            <a:ext cx="5330952" cy="148132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172200" y="5705856"/>
            <a:ext cx="5330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E7B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선택한 과제의 월별 추이를 전체 평균과 함께 본다.</a:t>
            </a:r>
            <a:endParaRPr lang="en-US" sz="950" dirty="0"/>
          </a:p>
        </p:txBody>
      </p:sp>
      <p:sp>
        <p:nvSpPr>
          <p:cNvPr id="16" name="Text 10"/>
          <p:cNvSpPr txBox="1"/>
          <p:nvPr/>
        </p:nvSpPr>
        <p:spPr>
          <a:xfrm>
            <a:off x="566928" y="636422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B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PRAP · 임상 과제 인력 배정 시뮬레이터</a:t>
            </a:r>
            <a:endParaRPr lang="en-US" sz="900" dirty="0"/>
          </a:p>
        </p:txBody>
      </p:sp>
      <p:sp>
        <p:nvSpPr>
          <p:cNvPr id="17" name="Text 11"/>
          <p:cNvSpPr txBox="1"/>
          <p:nvPr/>
        </p:nvSpPr>
        <p:spPr>
          <a:xfrm>
            <a:off x="11076127" y="636422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B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PRAP 소개자료</dc:title>
  <dc:subject>PptxGenJS Presentation</dc:subject>
  <dc:creator>PRAP</dc:creator>
  <cp:lastModifiedBy>PRAP</cp:lastModifiedBy>
  <cp:revision>1</cp:revision>
  <dcterms:created xsi:type="dcterms:W3CDTF">2026-09-15T14:18:56Z</dcterms:created>
  <dcterms:modified xsi:type="dcterms:W3CDTF">2026-09-15T14:18:56Z</dcterms:modified>
</cp:coreProperties>
</file>